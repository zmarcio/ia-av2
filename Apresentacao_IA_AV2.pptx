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ção" id="{06e115ed-c61c-9ca5-e102-0ed8bbed0469}">
          <p14:sldIdLst>
            <p14:sldId id="256"/>
            <p14:sldId id="257"/>
          </p14:sldIdLst>
        </p14:section>
        <p14:section name="Bancos de dados" id="{42de621c-d0d1-577e-842f-e23dae69cee1}">
          <p14:sldIdLst>
            <p14:sldId id="258"/>
            <p14:sldId id="259"/>
          </p14:sldIdLst>
        </p14:section>
        <p14:section name="Metodologia" id="{0cadaa46-50aa-513c-cac9-0ca007409490}">
          <p14:sldIdLst>
            <p14:sldId id="260"/>
            <p14:sldId id="261"/>
          </p14:sldIdLst>
        </p14:section>
        <p14:section name="Resultados" id="{85e0cb7b-50e9-5061-4ae5-c2185d426a01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Conclusões" id="{ad2bfd39-1161-6e0a-4fb8-fd45b5c186e6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329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329"/>
                </a:solidFill>
                <a:latin typeface="+mn-lt"/>
              </a:rPr>
              <a:t>Distribuição das classes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Classes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F6688"/>
              </a:solidFill>
              <a:effectLst/>
            </c:spPr>
          </c:dPt>
          <c:dPt>
            <c:idx val="1"/>
            <c:bubble3D val="0"/>
            <c:spPr>
              <a:solidFill>
                <a:srgbClr val="C8592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Defeito comum</c:v>
                </c:pt>
                <c:pt idx="1">
                  <c:v>Other_Faults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1268</c:v>
                </c:pt>
                <c:pt idx="1">
                  <c:v>673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329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329"/>
                </a:solidFill>
                <a:latin typeface="+mn-lt"/>
              </a:rPr>
              <a:t>Execuções por faixa de tempo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Execuções</c:v>
                </c:pt>
              </c:strCache>
            </c:strRef>
          </c:tx>
          <c:spPr>
            <a:solidFill>
              <a:srgbClr val="2F66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32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&lt; 1</c:v>
                  </c:pt>
                  <c:pt idx="1">
                    <c:v>1-10</c:v>
                  </c:pt>
                  <c:pt idx="2">
                    <c:v>10-100</c:v>
                  </c:pt>
                  <c:pt idx="3">
                    <c:v>100-1k</c:v>
                  </c:pt>
                  <c:pt idx="4">
                    <c:v>1k-3,6k</c:v>
                  </c:pt>
                  <c:pt idx="5">
                    <c:v>3600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493</c:v>
                </c:pt>
                <c:pt idx="1">
                  <c:v>332</c:v>
                </c:pt>
                <c:pt idx="2">
                  <c:v>298</c:v>
                </c:pt>
                <c:pt idx="3">
                  <c:v>280</c:v>
                </c:pt>
                <c:pt idx="4">
                  <c:v>123</c:v>
                </c:pt>
                <c:pt idx="5">
                  <c:v>582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32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6737C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66737C"/>
                    </a:solidFill>
                    <a:latin typeface="+mn-lt"/>
                  </a:rPr>
                  <a:t>runtime (segundos)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8C2C9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A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1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37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Acurácia</c:v>
                </c:pt>
              </c:strCache>
            </c:strRef>
          </c:tx>
          <c:spPr>
            <a:solidFill>
              <a:srgbClr val="2F668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32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kNN Euclidiana</c:v>
                  </c:pt>
                  <c:pt idx="1">
                    <c:v>kNN Manhattan</c:v>
                  </c:pt>
                  <c:pt idx="2">
                    <c:v>Bayes Univariado</c:v>
                  </c:pt>
                  <c:pt idx="3">
                    <c:v>Bayes Multivariado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0.7882239625887619</c:v>
                </c:pt>
                <c:pt idx="1">
                  <c:v>0.7902911460512942</c:v>
                </c:pt>
                <c:pt idx="2">
                  <c:v>0.5110725839129019</c:v>
                </c:pt>
                <c:pt idx="3">
                  <c:v>0.6059504593371994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C8592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32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kNN Euclidiana</c:v>
                  </c:pt>
                  <c:pt idx="1">
                    <c:v>kNN Manhattan</c:v>
                  </c:pt>
                  <c:pt idx="2">
                    <c:v>Bayes Univariado</c:v>
                  </c:pt>
                  <c:pt idx="3">
                    <c:v>Bayes Multivariado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0.7561403901911146</c:v>
                </c:pt>
                <c:pt idx="1">
                  <c:v>0.7561265263000388</c:v>
                </c:pt>
                <c:pt idx="2">
                  <c:v>0.5017442788059764</c:v>
                </c:pt>
                <c:pt idx="3">
                  <c:v>0.6001565955646153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B232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8C2C9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A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l"/>
        <c:majorGridlines>
          <c:spPr>
            <a:ln w="6350" cap="flat">
              <a:solidFill>
                <a:srgbClr val="E1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37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329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329"/>
                </a:solidFill>
                <a:latin typeface="+mn-lt"/>
              </a:rPr>
              <a:t>R² médio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2F668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32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kNN Euclidiana</c:v>
                  </c:pt>
                  <c:pt idx="1">
                    <c:v>kNN Manhattan</c:v>
                  </c:pt>
                  <c:pt idx="2">
                    <c:v>Regressão Linear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0.2560230847304597</c:v>
                </c:pt>
                <c:pt idx="1">
                  <c:v>0.3041207175858339</c:v>
                </c:pt>
                <c:pt idx="2">
                  <c:v>0.30854674514541813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B232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8C2C9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A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"/>
          <c:min val="0"/>
        </c:scaling>
        <c:delete val="1"/>
        <c:axPos val="b"/>
        <c:majorGridlines>
          <c:spPr>
            <a:ln w="6350" cap="flat">
              <a:solidFill>
                <a:srgbClr val="E1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37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329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329"/>
                </a:solidFill>
                <a:latin typeface="+mn-lt"/>
              </a:rPr>
              <a:t>Classificação: acurácia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Euclidiana</c:v>
                </c:pt>
              </c:strCache>
            </c:strRef>
          </c:tx>
          <c:spPr>
            <a:solidFill>
              <a:srgbClr val="2F6688"/>
            </a:solidFill>
            <a:ln w="31750" cap="flat">
              <a:solidFill>
                <a:srgbClr val="2F66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329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F6688"/>
              </a:solidFill>
              <a:ln w="9525" cap="flat">
                <a:solidFill>
                  <a:srgbClr val="2F66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3</c:v>
                  </c:pt>
                  <c:pt idx="2">
                    <c:v>5</c:v>
                  </c:pt>
                  <c:pt idx="3">
                    <c:v>7</c:v>
                  </c:pt>
                  <c:pt idx="4">
                    <c:v>9</c:v>
                  </c:pt>
                  <c:pt idx="5">
                    <c:v>11</c:v>
                  </c:pt>
                  <c:pt idx="6">
                    <c:v>15</c:v>
                  </c:pt>
                  <c:pt idx="7">
                    <c:v>21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0.7732873664002976</c:v>
                </c:pt>
                <c:pt idx="1">
                  <c:v>0.7753332934776112</c:v>
                </c:pt>
                <c:pt idx="2">
                  <c:v>0.7882239625887619</c:v>
                </c:pt>
                <c:pt idx="3">
                  <c:v>0.7908291983021462</c:v>
                </c:pt>
                <c:pt idx="4">
                  <c:v>0.7872275695316289</c:v>
                </c:pt>
                <c:pt idx="5">
                  <c:v>0.786689517280777</c:v>
                </c:pt>
                <c:pt idx="6">
                  <c:v>0.7743395574686303</c:v>
                </c:pt>
                <c:pt idx="7">
                  <c:v>0.7650505171279967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Manhattan</c:v>
                </c:pt>
              </c:strCache>
            </c:strRef>
          </c:tx>
          <c:spPr>
            <a:solidFill>
              <a:srgbClr val="C8592A"/>
            </a:solidFill>
            <a:ln w="31750" cap="flat">
              <a:solidFill>
                <a:srgbClr val="C8592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329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C8592A"/>
              </a:solidFill>
              <a:ln w="9525" cap="flat">
                <a:solidFill>
                  <a:srgbClr val="C8592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3</c:v>
                  </c:pt>
                  <c:pt idx="2">
                    <c:v>5</c:v>
                  </c:pt>
                  <c:pt idx="3">
                    <c:v>7</c:v>
                  </c:pt>
                  <c:pt idx="4">
                    <c:v>9</c:v>
                  </c:pt>
                  <c:pt idx="5">
                    <c:v>11</c:v>
                  </c:pt>
                  <c:pt idx="6">
                    <c:v>15</c:v>
                  </c:pt>
                  <c:pt idx="7">
                    <c:v>21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0.7779252439502334</c:v>
                </c:pt>
                <c:pt idx="1">
                  <c:v>0.7887487295988521</c:v>
                </c:pt>
                <c:pt idx="2">
                  <c:v>0.7902911460512942</c:v>
                </c:pt>
                <c:pt idx="3">
                  <c:v>0.7825976631261501</c:v>
                </c:pt>
                <c:pt idx="4">
                  <c:v>0.7872142842908672</c:v>
                </c:pt>
                <c:pt idx="5">
                  <c:v>0.7861886637040579</c:v>
                </c:pt>
                <c:pt idx="6">
                  <c:v>0.7758740027766153</c:v>
                </c:pt>
                <c:pt idx="7">
                  <c:v>0.7712387822748318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329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6737C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66737C"/>
                    </a:solidFill>
                    <a:latin typeface="+mn-lt"/>
                  </a:rPr>
                  <a:t>k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8C2C9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A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.75"/>
        </c:scaling>
        <c:delete val="0"/>
        <c:axPos val="l"/>
        <c:majorGridlines>
          <c:spPr>
            <a:ln w="6350" cap="flat">
              <a:solidFill>
                <a:srgbClr val="E1E6EA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37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329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329"/>
                </a:solidFill>
                <a:latin typeface="+mn-lt"/>
              </a:rPr>
              <a:t>Regressão: R²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Euclidiana</c:v>
                </c:pt>
              </c:strCache>
            </c:strRef>
          </c:tx>
          <c:spPr>
            <a:solidFill>
              <a:srgbClr val="2F6688"/>
            </a:solidFill>
            <a:ln w="31750" cap="flat">
              <a:solidFill>
                <a:srgbClr val="2F66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329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F6688"/>
              </a:solidFill>
              <a:ln w="9525" cap="flat">
                <a:solidFill>
                  <a:srgbClr val="2F66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3</c:v>
                  </c:pt>
                  <c:pt idx="2">
                    <c:v>5</c:v>
                  </c:pt>
                  <c:pt idx="3">
                    <c:v>7</c:v>
                  </c:pt>
                  <c:pt idx="4">
                    <c:v>9</c:v>
                  </c:pt>
                  <c:pt idx="5">
                    <c:v>11</c:v>
                  </c:pt>
                  <c:pt idx="6">
                    <c:v>15</c:v>
                  </c:pt>
                  <c:pt idx="7">
                    <c:v>21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-0.23186454894108594</c:v>
                </c:pt>
                <c:pt idx="1">
                  <c:v>0.19034974852581216</c:v>
                </c:pt>
                <c:pt idx="2">
                  <c:v>0.2560230847304597</c:v>
                </c:pt>
                <c:pt idx="3">
                  <c:v>0.275777632334518</c:v>
                </c:pt>
                <c:pt idx="4">
                  <c:v>0.28766366326713333</c:v>
                </c:pt>
                <c:pt idx="5">
                  <c:v>0.2863861049672135</c:v>
                </c:pt>
                <c:pt idx="6">
                  <c:v>0.2952015608413496</c:v>
                </c:pt>
                <c:pt idx="7">
                  <c:v>0.2792677941416666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Manhattan</c:v>
                </c:pt>
              </c:strCache>
            </c:strRef>
          </c:tx>
          <c:spPr>
            <a:solidFill>
              <a:srgbClr val="C8592A"/>
            </a:solidFill>
            <a:ln w="31750" cap="flat">
              <a:solidFill>
                <a:srgbClr val="C8592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329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C8592A"/>
              </a:solidFill>
              <a:ln w="9525" cap="flat">
                <a:solidFill>
                  <a:srgbClr val="C8592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3</c:v>
                  </c:pt>
                  <c:pt idx="2">
                    <c:v>5</c:v>
                  </c:pt>
                  <c:pt idx="3">
                    <c:v>7</c:v>
                  </c:pt>
                  <c:pt idx="4">
                    <c:v>9</c:v>
                  </c:pt>
                  <c:pt idx="5">
                    <c:v>11</c:v>
                  </c:pt>
                  <c:pt idx="6">
                    <c:v>15</c:v>
                  </c:pt>
                  <c:pt idx="7">
                    <c:v>21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-0.12039727445767534</c:v>
                </c:pt>
                <c:pt idx="1">
                  <c:v>0.25009371948437376</c:v>
                </c:pt>
                <c:pt idx="2">
                  <c:v>0.3041207175858339</c:v>
                </c:pt>
                <c:pt idx="3">
                  <c:v>0.3163381449414013</c:v>
                </c:pt>
                <c:pt idx="4">
                  <c:v>0.3190996459857326</c:v>
                </c:pt>
                <c:pt idx="5">
                  <c:v>0.31851748845451083</c:v>
                </c:pt>
                <c:pt idx="6">
                  <c:v>0.3302433552981218</c:v>
                </c:pt>
                <c:pt idx="7">
                  <c:v>0.3361111999677303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329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6737C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66737C"/>
                    </a:solidFill>
                    <a:latin typeface="+mn-lt"/>
                  </a:rPr>
                  <a:t>k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8C2C9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A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"/>
          <c:min val="-0.3"/>
        </c:scaling>
        <c:delete val="0"/>
        <c:axPos val="l"/>
        <c:majorGridlines>
          <c:spPr>
            <a:ln w="6350" cap="flat">
              <a:solidFill>
                <a:srgbClr val="E1E6EA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37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nome, disciplina e tema.
Palavras-chave: comparação de algoritmos · dois datasets do OpenML · implementação própria.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comparar algoritmos supervisionados em acerto e em tempo.
Classificação: kNN com duas distâncias e Bayes nos casos univariado e multivariado.
Regressão: kNN e regressão linear múltipla.
Os algoritmos foram implementados manualmente em Python com NumPy.
Palavras-chave: objetivo · algoritmos · acerto x tempo · NumPy.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amostra é um defeito detectado em uma chapa de aço: posição, área, perímetro, luminosidade e espessura.
A classe diz se é um dos 6 defeitos conhecidos ou 'Other_Faults'. Desbalanceado: 65% x 35%.
Removi V28 a V33: são os outros 6 tipos de defeito e definem a classe em 100% dos casos (vazamento de dados).
Removi TypeOfSteel_A400 porque é sempre o complemento de A300.
Palavras-chave: 1941 amostras · 26 atributos · 65/35 · vazamento 100%.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Problema de pré-empilhamento de contêineres: reorganizar o pátio antes da chegada do navio.
Cada linha é uma instância de pátio resolvida por um dos 4 algoritmos (A* ou IDA*). O alvo é o tempo de execução.
O tempo é muito desigual: mediana de 66 s, e 582 execuções batem o limite de 3600 s. Por isso o modelo prevê log(1 + runtime).
Removi instance_id (vira grupo da validação), repetition (constante) e runstatus (só se conhece depois de rodar).
Palavras-chave: 2108 amostras · 527 instâncias x 4 algoritmos · limite 3600 s · 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kNN: não treina nada, só guarda os dados. Para prever, busca os 5 vizinhos mais próximos e faz votação (ou média, na regressão).
Bayes univariado: uma normal por atributo e supõe atributos independentes.
Bayes multivariado: uma normal com matriz de covariância (np.cov), que considera a correlação entre atributos.
Regressão linear: acha os coeficientes pela equação normal, minimizando o erro quadrático.
Palavras-chave: vizinhos · normal · covariância · equação normal.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Validação cruzada de 5 folds. Na classificação os folds mantêm a proporção das classes.
Na regressão, as 4 linhas de uma mesma instância ficam no mesmo fold, para o modelo não ver a mesma instância no treino.
Z-score calculado só com o treino de cada fold.
Precisão, recall e F1 em média macro: as duas classes pesam igual.
Palavras-chave: 5 folds · estratificado · agrupado · z-score · média macro.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kNN Manhattan foi o melhor: acurácia 79,0%. A Euclidiana ficou praticamente empatada.
Bayes univariado: 51,1%, abaixo dos 65% de quem chuta sempre a classe maior.
Bayes multivariado: 60,6%.
Tempos em milissegundos, por fold.
Palavras-chave: kNN 79% · Bayes abaixo do chute · média ± desvio.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kNN fica perto de 0,79 de acurácia e 0,76 de F1 com as duas distâncias.
Os dois Bayes ficam bem abaixo. Os atributos não seguem uma normal (áreas e luminosidade são muito assimétricas) e não são independentes.
O multivariado melhora porque considera a correlação, mas a hipótese de normal continua falhando.
Palavras-chave: kNN &gt; Bayes · dados não normais · correlação entre atributos.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Bayes univariado classifica 904 defeitos comuns como Other_Faults, cerca de 71% deles.
Por isso o recall da classe Other é alto, mas a acurácia cai.
O kNN erra mais no sentido contrário: deixa passar parte dos Other_Faults.
Palavras-chave: falsos positivos · Bayes puxa para Other · kNN equilibrado.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Regressão linear e kNN Manhattan ficaram com R² parecido, perto de 0,31.
A linear varia menos entre os folds. O kNN Manhattan tem o menor erro absoluto.
O R² é baixo para todos: o tempo depende muito do algoritmo e da instância, e muitas execuções batem o limite.
Métricas calculadas na escala log(1 + runtime).
Palavras-chave: R² ≈ 0,31 · linear mais estável · limite de 3600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kNN praticamente não treina, só guarda os dados. Mas no teste calcula a distância até todos os pontos de treino, por isso é o mais lento.
Bayes e regressão linear resumem o treino em poucos parâmetros. Prever é uma conta rápida.
Na regressão, a linear prevê cerca de 3860 vezes mais rápido que o kNN.
Palavras-chave: kNN lento no teste · modelos com parâmetros são rápidos.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Testei k de 1 a 21 como análise extra.
Com k = 1 o modelo decora ruído: na regressão o R² fica negativo.
k = 5 fica perto do melhor nos dois casos. Mantive k = 5 fixo na tabela para não escolher k olhando o teste.
Palavras-chave: k = 1 decora · k = 5 estável · sem ajuste no teste.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Classificação: o kNN Manhattan foi o melhor. O Bayes univariado é o mais rápido, mas erra demais. Vale a pena o kNN: cerca de 60 ms por fold é aceitável para um ganho grande de acurácia.
Regressão: a Regressão Linear foi a melhor e a mais rápida ao mesmo tempo, com o mesmo R² do kNN, menos variação e teste centenas de vezes mais rápido.
Limitações: os dados não seguem uma normal, o tempo tem limite de 3600 s e k e λ ficaram fixos.
Palavras-chave: melhor · mais rápido · vale a pena · limitações.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apoio. Não precisa 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B2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960120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1B2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Inteligência Artificial Computacional · AV2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3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3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Avaliação de Algoritmos de Aprendizado Supervisionado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5661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Classificação (OpenML 1504) e Regressão (OpenML 41700)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46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Márcio Lima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349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UNIFOR · Inteligência Artificial Computacional · Profa. Dra. Cynthia Moreira Maia · 15/10/2026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Introdução</a:t>
            </a:r>
            <a:endParaRPr lang="en-US" sz="3000" dirty="0"/>
          </a:p>
        </p:txBody>
      </p:sp>
      <p:sp>
        <p:nvSpPr>
          <p:cNvPr id="4" name="bloco Objetivo"/>
          <p:cNvSpPr/>
          <p:nvPr/>
        </p:nvSpPr>
        <p:spPr>
          <a:xfrm>
            <a:off x="548640" y="1417320"/>
            <a:ext cx="3454298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" y="1691640"/>
            <a:ext cx="29056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331720"/>
            <a:ext cx="29056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Comparar algoritmos supervisionados em desempenho e tempo de execução, com validação cruzada de 5 folds.</a:t>
            </a:r>
            <a:endParaRPr lang="en-US" sz="1800" dirty="0"/>
          </a:p>
        </p:txBody>
      </p:sp>
      <p:sp>
        <p:nvSpPr>
          <p:cNvPr id="7" name="bloco Algoritmos"/>
          <p:cNvSpPr/>
          <p:nvPr/>
        </p:nvSpPr>
        <p:spPr>
          <a:xfrm>
            <a:off x="4368698" y="1417320"/>
            <a:ext cx="3454298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643018" y="1691640"/>
            <a:ext cx="29056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Algoritmos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4643018" y="2331720"/>
            <a:ext cx="29056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kNN (Euclidiana e Manhattan), Bayes univariado e multivariado, Regressão Linear Múltipla.</a:t>
            </a:r>
            <a:endParaRPr lang="en-US" sz="1800" dirty="0"/>
          </a:p>
        </p:txBody>
      </p:sp>
      <p:sp>
        <p:nvSpPr>
          <p:cNvPr id="10" name="bloco Relevância"/>
          <p:cNvSpPr/>
          <p:nvPr/>
        </p:nvSpPr>
        <p:spPr>
          <a:xfrm>
            <a:off x="8188757" y="1417320"/>
            <a:ext cx="3454298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463077" y="1691640"/>
            <a:ext cx="29056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Relevância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8463077" y="2331720"/>
            <a:ext cx="29056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A escolha de um modelo depende do equilíbrio entre taxa de acerto e custo computacional.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3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Classificação: Steel Plates Faults (OpenML 1504)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17320"/>
            <a:ext cx="176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1941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103120"/>
            <a:ext cx="176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amostras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2499360" y="1417320"/>
            <a:ext cx="176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2499360" y="2103120"/>
            <a:ext cx="176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atributos (de 33)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450080" y="1417320"/>
            <a:ext cx="176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4450080" y="2103120"/>
            <a:ext cx="176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classes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788920"/>
            <a:ext cx="5760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Defeitos em chapas de aço (Semeion, UCI).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Atributos: posição, área, perímetro, luminosidade, espessura.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Classe 0: defeito comum (6 tipos). Classe 1: Other_Faults.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Removidos V28 a V33 (vazamento) e TypeOfSteel_A400 (redundante).</a:t>
            </a:r>
            <a:endParaRPr lang="en-US" sz="16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6766560" y="1417320"/>
          <a:ext cx="48463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3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Regressão: CPMP-2015 (OpenML 41700)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17320"/>
            <a:ext cx="176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2108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103120"/>
            <a:ext cx="176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amostras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2499360" y="1417320"/>
            <a:ext cx="176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2499360" y="2103120"/>
            <a:ext cx="176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atributos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450080" y="1417320"/>
            <a:ext cx="176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527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4450080" y="2103120"/>
            <a:ext cx="176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instâncias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788920"/>
            <a:ext cx="5760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Tempo de execução de algoritmos A*/IDA* no pré-empilhamento de contêineres.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Mediana de 66 s; 582 execuções no limite de 3600 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Alvo transformado: log(1 + runtime).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Removidos instance_id, repetition e runstatus.</a:t>
            </a:r>
            <a:endParaRPr lang="en-US" sz="16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6766560" y="1417320"/>
          <a:ext cx="48463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3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Algoritmos</a:t>
            </a:r>
            <a:endParaRPr lang="en-US" sz="3000" dirty="0"/>
          </a:p>
        </p:txBody>
      </p:sp>
      <p:sp>
        <p:nvSpPr>
          <p:cNvPr id="4" name="algoritmo kNN (k = 5)"/>
          <p:cNvSpPr/>
          <p:nvPr/>
        </p:nvSpPr>
        <p:spPr>
          <a:xfrm>
            <a:off x="548640" y="1417320"/>
            <a:ext cx="536432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" y="1645920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kNN (k = 5)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148840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Classe mais votada ou média dos 5 vizinhos.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43200"/>
            <a:ext cx="4815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Euclidiana: √Σ(xᵢ − yᵢ)²     Manhattan: Σ|xᵢ − yᵢ|</a:t>
            </a:r>
            <a:endParaRPr lang="en-US" sz="1600" dirty="0"/>
          </a:p>
        </p:txBody>
      </p:sp>
      <p:sp>
        <p:nvSpPr>
          <p:cNvPr id="8" name="algoritmo Bayes univariado"/>
          <p:cNvSpPr/>
          <p:nvPr/>
        </p:nvSpPr>
        <p:spPr>
          <a:xfrm>
            <a:off x="6278728" y="1417320"/>
            <a:ext cx="536432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553048" y="1645920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Bayes univariado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553048" y="2148840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Uma normal por atributo; atributos independentes.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553048" y="2743200"/>
            <a:ext cx="4815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p(x) = 1/(√(2π)σ) · exp[−½((x − μ)/σ)²]</a:t>
            </a:r>
            <a:endParaRPr lang="en-US" sz="1600" dirty="0"/>
          </a:p>
        </p:txBody>
      </p:sp>
      <p:sp>
        <p:nvSpPr>
          <p:cNvPr id="12" name="algoritmo Bayes multivariado"/>
          <p:cNvSpPr/>
          <p:nvPr/>
        </p:nvSpPr>
        <p:spPr>
          <a:xfrm>
            <a:off x="548640" y="3840480"/>
            <a:ext cx="536432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22960" y="4069080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Bayes multivariado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572000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Normal de d dimensões com covariância Σ.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5166360"/>
            <a:ext cx="4815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p(x) = exp[−½(x − μ)ᵗΣ⁻¹(x − μ)] / ((2π)^(d/2)|Σ|^½)</a:t>
            </a:r>
            <a:endParaRPr lang="en-US" sz="1600" dirty="0"/>
          </a:p>
        </p:txBody>
      </p:sp>
      <p:sp>
        <p:nvSpPr>
          <p:cNvPr id="16" name="algoritmo Regressão linear múltipla"/>
          <p:cNvSpPr/>
          <p:nvPr/>
        </p:nvSpPr>
        <p:spPr>
          <a:xfrm>
            <a:off x="6278728" y="3840480"/>
            <a:ext cx="536432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553048" y="4069080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Regressão linear múltipla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6553048" y="4572000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Minimiza a soma dos erros ao quadrado.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553048" y="5166360"/>
            <a:ext cx="4815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 = Xβ        β = (XᵗX)⁻¹Xᵗy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3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Protocolo e métricas</a:t>
            </a:r>
            <a:endParaRPr lang="en-US" sz="3000" dirty="0"/>
          </a:p>
        </p:txBody>
      </p:sp>
      <p:sp>
        <p:nvSpPr>
          <p:cNvPr id="4" name="protocolo"/>
          <p:cNvSpPr/>
          <p:nvPr/>
        </p:nvSpPr>
        <p:spPr>
          <a:xfrm>
            <a:off x="548640" y="1417320"/>
            <a:ext cx="5120640" cy="4206240"/>
          </a:xfrm>
          <a:prstGeom prst="roundRect">
            <a:avLst>
              <a:gd name="adj" fmla="val 1739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" y="1645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Protocolo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240280"/>
            <a:ext cx="4572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Validação cruzada de 5 folds.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Classificação: folds estratificados.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Regressão: folds agrupados por instância.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Z-score ajustado no treino de cada fold.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Resultado: média ± desvio padrão.</a:t>
            </a:r>
            <a:endParaRPr lang="en-US" sz="1600" dirty="0"/>
          </a:p>
        </p:txBody>
      </p:sp>
      <p:sp>
        <p:nvSpPr>
          <p:cNvPr id="7" name="metricas classificacao"/>
          <p:cNvSpPr/>
          <p:nvPr/>
        </p:nvSpPr>
        <p:spPr>
          <a:xfrm>
            <a:off x="6035040" y="1417320"/>
            <a:ext cx="5608015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309360" y="1645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Classificação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309360" y="2148840"/>
            <a:ext cx="50593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Acurácia = acertos / total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Precisão = VP / (VP + FP)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Recall = VP / (VP + FN)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F1 = 2·P·R / (P + R)</a:t>
            </a:r>
            <a:endParaRPr lang="en-US" sz="1500" dirty="0"/>
          </a:p>
        </p:txBody>
      </p:sp>
      <p:sp>
        <p:nvSpPr>
          <p:cNvPr id="10" name="metricas regressao"/>
          <p:cNvSpPr/>
          <p:nvPr/>
        </p:nvSpPr>
        <p:spPr>
          <a:xfrm>
            <a:off x="6035040" y="3657600"/>
            <a:ext cx="5608015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309360" y="3886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Regressão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4389120"/>
            <a:ext cx="50593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R² = 1 − Σ(y − ŷ)² / Σ(y − ȳ)²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R² ajustado = 1 − (1 − R²)(n − 1)/(n − p − 1)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MAE = média |y − ŷ|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3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Resultados: classificação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417320"/>
                <a:gridCol w="1417320"/>
                <a:gridCol w="1417320"/>
                <a:gridCol w="1417320"/>
                <a:gridCol w="1335024"/>
                <a:gridCol w="1337767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Classificador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Acurácia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Precisão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F1-Score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Treino (ms)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Teste (ms)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5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kNN (Dist. Euclidiana)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0,788 ± 0,012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0,773 ± 0,016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0,748 ± 0,015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0,756 ± 0,014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0,005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62,156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329"/>
                          </a:solidFill>
                        </a:rPr>
                        <a:t>kNN (Dist. Manhattan)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329"/>
                          </a:solidFill>
                        </a:rPr>
                        <a:t>0,790 ± 0,018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329"/>
                          </a:solidFill>
                        </a:rPr>
                        <a:t>0,777 ± 0,021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329"/>
                          </a:solidFill>
                        </a:rPr>
                        <a:t>0,746 ± 0,022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329"/>
                          </a:solidFill>
                        </a:rPr>
                        <a:t>0,756 ± 0,022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329"/>
                          </a:solidFill>
                        </a:rPr>
                        <a:t>0,003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329"/>
                          </a:solidFill>
                        </a:rPr>
                        <a:t>57,895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D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Bayesiano (Univariado)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0,511 ± 0,003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0,651 ± 0,011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0,610 ± 0,003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0,502 ± 0,005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0,248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0,086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Bayesiano (Multivariado)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0,606 ± 0,050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0,691 ± 0,012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0,673 ± 0,013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0,600 ± 0,044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0,368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0,546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4434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Média ± desvio padrão nos 5 folds. Precisão, recall e F1 em média macro.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50749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Melhor: kNN Manhattan, com 79,0% de acurácia.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Prever sempre a classe maior daria 65%: o Bayes univariado fica abaixo disso.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3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Classificação: acurácia e F1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69494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7863840" y="1691640"/>
            <a:ext cx="377921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kNN: melhor resultado com as duas distâncias.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Bayes univariado fica abaixo do chute fixo (65%).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Atributos assimétricos e correlacionados prejudicam o Bayes.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3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confusão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17320"/>
            <a:ext cx="5358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kNN Manhattan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5358384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901952"/>
                <a:gridCol w="1901952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A4A55"/>
                          </a:solidFill>
                        </a:rPr>
                        <a:t>Previsto comum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A4A55"/>
                          </a:solidFill>
                        </a:rPr>
                        <a:t>Previsto Other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A4A55"/>
                          </a:solidFill>
                        </a:rPr>
                        <a:t>Real comum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</a:rPr>
                        <a:t>1129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6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B2329"/>
                          </a:solidFill>
                        </a:rPr>
                        <a:t>139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5C6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A4A55"/>
                          </a:solidFill>
                        </a:rPr>
                        <a:t>Real Other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B2329"/>
                          </a:solidFill>
                        </a:rPr>
                        <a:t>268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5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</a:rPr>
                        <a:t>405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688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281928" y="1417320"/>
            <a:ext cx="5358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Bayes Univariado</a:t>
            </a:r>
            <a:endParaRPr lang="en-US" sz="20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1928" y="2011680"/>
          <a:ext cx="5358384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901952"/>
                <a:gridCol w="1901952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A4A55"/>
                          </a:solidFill>
                        </a:rPr>
                        <a:t>Previsto comum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A4A55"/>
                          </a:solidFill>
                        </a:rPr>
                        <a:t>Previsto Other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A4A55"/>
                          </a:solidFill>
                        </a:rPr>
                        <a:t>Real comum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</a:rPr>
                        <a:t>364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6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B2329"/>
                          </a:solidFill>
                        </a:rPr>
                        <a:t>904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5C6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A4A55"/>
                          </a:solidFill>
                        </a:rPr>
                        <a:t>Real Other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B2329"/>
                          </a:solidFill>
                        </a:rPr>
                        <a:t>45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5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</a:rPr>
                        <a:t>628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688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548640" y="5349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Azul: acertos. Laranja: erros. Soma dos 5 folds (cada amostra aparece uma vez).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3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Resultados: regressão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691640"/>
                <a:gridCol w="1691640"/>
                <a:gridCol w="1691640"/>
                <a:gridCol w="1499616"/>
                <a:gridCol w="1502359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Regressor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R²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R² ajustado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MAE (log)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Treino (ms)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Teste (ms)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5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kNN (Dist. Euclidiana)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0,256 ± 0,025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0,209 ± 0,027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2,206 ± 0,030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0,004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69,285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kNN (Dist. Manhattan)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0,304 ± 0,061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0,260 ± 0,065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2,094 ± 0,069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0,003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68,598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329"/>
                          </a:solidFill>
                        </a:rPr>
                        <a:t>Regressão Linear Múltipla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329"/>
                          </a:solidFill>
                        </a:rPr>
                        <a:t>0,309 ± 0,024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329"/>
                          </a:solidFill>
                        </a:rPr>
                        <a:t>0,265 ± 0,026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329"/>
                          </a:solidFill>
                        </a:rPr>
                        <a:t>2,254 ± 0,053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329"/>
                          </a:solidFill>
                        </a:rPr>
                        <a:t>0,360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329"/>
                          </a:solidFill>
                        </a:rPr>
                        <a:t>0,018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D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548640" y="3520440"/>
          <a:ext cx="694944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1"/>
          <p:cNvSpPr txBox="1"/>
          <p:nvPr/>
        </p:nvSpPr>
        <p:spPr>
          <a:xfrm>
            <a:off x="7863840" y="3794760"/>
            <a:ext cx="37792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Alvo em escala log(1 + runtime).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Linear: maior R² e menor desvio.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Euclidiana: pior resultado.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3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 de treino e teste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142232"/>
                <a:gridCol w="2377440"/>
                <a:gridCol w="2380183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Tarefa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Modelo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Treino (ms)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Teste (ms)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Classificação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kNN (Dist. Euclidiana)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0,005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62,156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Classificação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kNN (Dist. Manhattan)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0,003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57,895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Classificação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Bayesiano (Univariado)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0,248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0,086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Classificação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Bayesiano (Multivariado)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0,368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0,546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Regressão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kNN (Dist. Euclidiana)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0,004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69,285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Regressão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kNN (Dist. Manhattan)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0,003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68,598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Regressão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Regressão Linear Múltipla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0,360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29"/>
                          </a:solidFill>
                        </a:rPr>
                        <a:t>0,018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Tempo médio por fold. kNN: treino quase zero, teste mais lento.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3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Efeito do número de vizinhos (k)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5358384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81928" y="1417320"/>
          <a:ext cx="5358384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3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Conclusões</a:t>
            </a:r>
            <a:endParaRPr lang="en-US" sz="3000" dirty="0"/>
          </a:p>
        </p:txBody>
      </p:sp>
      <p:sp>
        <p:nvSpPr>
          <p:cNvPr id="4" name="conclusao Classificação"/>
          <p:cNvSpPr/>
          <p:nvPr/>
        </p:nvSpPr>
        <p:spPr>
          <a:xfrm>
            <a:off x="548640" y="1280160"/>
            <a:ext cx="5364328" cy="3108960"/>
          </a:xfrm>
          <a:prstGeom prst="roundRect">
            <a:avLst>
              <a:gd name="adj" fmla="val 2353"/>
            </a:avLst>
          </a:prstGeom>
          <a:solidFill>
            <a:schemeClr val="tx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" y="146304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Classificação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103120"/>
            <a:ext cx="481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Melhor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59152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kNN Manhattan: acurácia 79,0% e F1 0,76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52928"/>
            <a:ext cx="481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Mais rápido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10896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Bayes univariado: 0,086 ms, mas 51,1% de acurácia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602736"/>
            <a:ext cx="481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Vale a pena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858768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kNN Manhattan: 18 pontos acima do melhor Bayes</a:t>
            </a:r>
            <a:endParaRPr lang="en-US" sz="1700" dirty="0"/>
          </a:p>
        </p:txBody>
      </p:sp>
      <p:sp>
        <p:nvSpPr>
          <p:cNvPr id="12" name="conclusao Regressão"/>
          <p:cNvSpPr/>
          <p:nvPr/>
        </p:nvSpPr>
        <p:spPr>
          <a:xfrm>
            <a:off x="6278728" y="1280160"/>
            <a:ext cx="5364328" cy="3108960"/>
          </a:xfrm>
          <a:prstGeom prst="roundRect">
            <a:avLst>
              <a:gd name="adj" fmla="val 2353"/>
            </a:avLst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553048" y="146304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Regressão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553048" y="2103120"/>
            <a:ext cx="481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Melhor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553048" y="2359152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Regressão Linear: R² 0,31 (kNN Manhattan: 0,30)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6553048" y="2852928"/>
            <a:ext cx="481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Mais rápido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553048" y="310896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Regressão Linear: 0,018 ms contra 69 ms do kNN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6553048" y="3602736"/>
            <a:ext cx="481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Vale a pena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553048" y="3858768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Regressão Linear: a melhor e a mais rápida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4846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34924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Atributos não seguem distribuição normal, o que prejudica o Bayes.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Tempo de execução limitado em 3600 s em 28% das amostras da regressão.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k e λ fixos, sem busca de hiperparâmetros.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17320"/>
            <a:ext cx="11094415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OpenML. steel-plates-fault (id 1504). https://www.openml.org/d/1504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OpenML. CPMP-2015-regression (id 41700). https://www.openml.org/d/41700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Buscema, M. et al. Steel Plates Faults Data Set. UCI Machine Learning Repository, 2010.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Tierney, K.; Malitsky, Y. An Algorithm Selection Benchmark for the Container Pre-Marshalling Problem. LION, 2015.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Duda, R. O.; Hart, P. E.; Stork, D. G. Pattern Classification. 2. ed. Wiley, 2001.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James, G. et al. An Introduction to Statistical Learning. Springer, 2013.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Harris, C. R. et al. Array programming with NumPy. Nature, 585, 2020.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3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V2">
  <a:themeElements>
    <a:clrScheme name="AV2">
      <a:dk1>
        <a:srgbClr val="1B2329"/>
      </a:dk1>
      <a:lt1>
        <a:srgbClr val="FFFFFF"/>
      </a:lt1>
      <a:dk2>
        <a:srgbClr val="3A4A55"/>
      </a:dk2>
      <a:lt2>
        <a:srgbClr val="EEF1F3"/>
      </a:lt2>
      <a:accent1>
        <a:srgbClr val="C8592A"/>
      </a:accent1>
      <a:accent2>
        <a:srgbClr val="2F6688"/>
      </a:accent2>
      <a:accent3>
        <a:srgbClr val="9FB3C0"/>
      </a:accent3>
      <a:accent4>
        <a:srgbClr val="C9A227"/>
      </a:accent4>
      <a:accent5>
        <a:srgbClr val="66737C"/>
      </a:accent5>
      <a:accent6>
        <a:srgbClr val="A23B2A"/>
      </a:accent6>
      <a:hlink>
        <a:srgbClr val="2F6688"/>
      </a:hlink>
      <a:folHlink>
        <a:srgbClr val="66737C"/>
      </a:folHlink>
    </a:clrScheme>
    <a:fontScheme name="AV2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Avaliação de Algoritmos de Aprendizado Supervisionado</dc:title>
  <dc:subject>PptxGenJS Presentation</dc:subject>
  <dc:creator>Márcio Lima</dc:creator>
  <cp:lastModifiedBy>Márcio Lima</cp:lastModifiedBy>
  <cp:revision>1</cp:revision>
  <dcterms:created xsi:type="dcterms:W3CDTF">2026-10-13T20:34:01Z</dcterms:created>
  <dcterms:modified xsi:type="dcterms:W3CDTF">2026-10-13T20:34:01Z</dcterms:modified>
</cp:coreProperties>
</file>