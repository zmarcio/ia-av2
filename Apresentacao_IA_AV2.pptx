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  <p:sldMasterId id="2147483664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Cambria Math"/>
      <p:regular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D5583B-B206-4D64-B3AF-6532A60A89E8}">
  <a:tblStyle styleId="{4AD5583B-B206-4D64-B3AF-6532A60A89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11" Type="http://schemas.openxmlformats.org/officeDocument/2006/relationships/slide" Target="slides/slide4.xml"/><Relationship Id="rId22" Type="http://schemas.openxmlformats.org/officeDocument/2006/relationships/font" Target="fonts/CambriaMath-regular.fntdata"/><Relationship Id="rId10" Type="http://schemas.openxmlformats.org/officeDocument/2006/relationships/slide" Target="slides/slide3.xml"/><Relationship Id="rId21" Type="http://schemas.openxmlformats.org/officeDocument/2006/relationships/slide" Target="slides/slide14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2.xml"/><Relationship Id="rId6" Type="http://schemas.openxmlformats.org/officeDocument/2006/relationships/slideMaster" Target="slideMasters/slideMaster2.xml"/><Relationship Id="rId18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3668c5cbc1dbdc57_3_1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h3668c5cbc1dbdc57_3_11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Apresentar nome, disciplina e tema.</a:t>
            </a:r>
            <a:br>
              <a:rPr lang="pt-BR"/>
            </a:br>
            <a:br>
              <a:rPr lang="pt-BR"/>
            </a:br>
            <a:r>
              <a:rPr lang="pt-BR"/>
              <a:t>Palavras-chave: comparação de algoritmos · dois datasets do OpenML · implementação própria.</a:t>
            </a:r>
            <a:endParaRPr/>
          </a:p>
        </p:txBody>
      </p:sp>
      <p:sp>
        <p:nvSpPr>
          <p:cNvPr id="64" name="Google Shape;64;h3668c5cbc1dbdc57_3_11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h3668c5cbc1dbdc57_3_2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h3668c5cbc1dbdc57_3_20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Objetivo: comparar algoritmos supervisionados em acerto e em tempo.</a:t>
            </a:r>
            <a:br>
              <a:rPr lang="pt-BR"/>
            </a:br>
            <a:r>
              <a:rPr lang="pt-BR"/>
              <a:t>Classificação: kNN com duas distâncias e Bayes nos casos univariado e multivariado.</a:t>
            </a:r>
            <a:br>
              <a:rPr lang="pt-BR"/>
            </a:br>
            <a:r>
              <a:rPr lang="pt-BR"/>
              <a:t>Regressão: kNN e regressão linear múltipla.</a:t>
            </a:r>
            <a:br>
              <a:rPr lang="pt-BR"/>
            </a:br>
            <a:r>
              <a:rPr lang="pt-BR"/>
              <a:t>Os algoritmos foram implementados manualmente em Python com NumPy.</a:t>
            </a:r>
            <a:br>
              <a:rPr lang="pt-BR"/>
            </a:br>
            <a:br>
              <a:rPr lang="pt-BR"/>
            </a:br>
            <a:r>
              <a:rPr lang="pt-BR"/>
              <a:t>Palavras-chave: objetivo · algoritmos · acerto x tempo · NumPy.</a:t>
            </a:r>
            <a:endParaRPr/>
          </a:p>
        </p:txBody>
      </p:sp>
      <p:sp>
        <p:nvSpPr>
          <p:cNvPr id="73" name="Google Shape;73;h3668c5cbc1dbdc57_3_2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h3668c5cbc1dbdc57_3_3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h3668c5cbc1dbdc57_3_3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Cada amostra é um defeito detectado em uma chapa de aço: posição, área, perímetro, luminosidade e espessura.</a:t>
            </a:r>
            <a:br>
              <a:rPr lang="pt-BR"/>
            </a:br>
            <a:r>
              <a:rPr lang="pt-BR"/>
              <a:t>A classe diz se é um dos 6 defeitos conhecidos ou 'Other_Faults'. Desbalanceado: 65% x 35%.</a:t>
            </a:r>
            <a:br>
              <a:rPr lang="pt-BR"/>
            </a:br>
            <a:r>
              <a:rPr lang="pt-BR"/>
              <a:t>Removi V28 a V33: são os outros 6 tipos de defeito e definem a classe em 100% dos casos (vazamento de dados).</a:t>
            </a:r>
            <a:br>
              <a:rPr lang="pt-BR"/>
            </a:br>
            <a:r>
              <a:rPr lang="pt-BR"/>
              <a:t>Removi TypeOfSteel_A400 porque é sempre o complemento de A300.</a:t>
            </a:r>
            <a:br>
              <a:rPr lang="pt-BR"/>
            </a:br>
            <a:br>
              <a:rPr lang="pt-BR"/>
            </a:br>
            <a:r>
              <a:rPr lang="pt-BR"/>
              <a:t>Palavras-chave: 1941 amostras · 26 atributos · 65/35 · vazamento 100%.</a:t>
            </a:r>
            <a:endParaRPr/>
          </a:p>
        </p:txBody>
      </p:sp>
      <p:sp>
        <p:nvSpPr>
          <p:cNvPr id="89" name="Google Shape;89;h3668c5cbc1dbdc57_3_3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3668c5cbc1dbdc57_3_4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3668c5cbc1dbdc57_3_4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Problema de pré-empilhamento de contêineres: reorganizar o pátio antes da chegada do navio.</a:t>
            </a:r>
            <a:br>
              <a:rPr lang="pt-BR"/>
            </a:br>
            <a:r>
              <a:rPr lang="pt-BR"/>
              <a:t>Cada linha é uma instância de pátio resolvida por um dos 4 algoritmos (A* ou IDA*). O alvo é o tempo de execução.</a:t>
            </a:r>
            <a:br>
              <a:rPr lang="pt-BR"/>
            </a:br>
            <a:r>
              <a:rPr lang="pt-BR"/>
              <a:t>O tempo é muito desigual: mediana de 66 s, e 582 execuções batem o limite de 3600 s. Por isso o modelo prevê log(1 + runtime).</a:t>
            </a:r>
            <a:br>
              <a:rPr lang="pt-BR"/>
            </a:br>
            <a:r>
              <a:rPr lang="pt-BR"/>
              <a:t>Removi instance_id (vira grupo da validação), repetition (constante) e runstatus (só se conhece depois de rodar).</a:t>
            </a:r>
            <a:br>
              <a:rPr lang="pt-BR"/>
            </a:br>
            <a:br>
              <a:rPr lang="pt-BR"/>
            </a:br>
            <a:r>
              <a:rPr lang="pt-BR"/>
              <a:t>Palavras-chave: 2108 amostras · 527 instâncias x 4 algoritmos · limite 3600 s · log.</a:t>
            </a:r>
            <a:endParaRPr/>
          </a:p>
        </p:txBody>
      </p:sp>
      <p:sp>
        <p:nvSpPr>
          <p:cNvPr id="104" name="Google Shape;104;h3668c5cbc1dbdc57_3_4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h3668c5cbc1dbdc57_3_6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h3668c5cbc1dbdc57_3_6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kNN: não treina nada, só guarda os dados. Para prever, busca os 5 vizinhos mais próximos e faz votação (ou média, na regressão).</a:t>
            </a:r>
            <a:br>
              <a:rPr lang="pt-BR"/>
            </a:br>
            <a:r>
              <a:rPr lang="pt-BR"/>
              <a:t>Bayes univariado: uma normal por atributo e supõe atributos independentes.</a:t>
            </a:r>
            <a:br>
              <a:rPr lang="pt-BR"/>
            </a:br>
            <a:r>
              <a:rPr lang="pt-BR"/>
              <a:t>Bayes multivariado: uma normal com matriz de covariância (np.cov), que considera a correlação entre atributos.</a:t>
            </a:r>
            <a:br>
              <a:rPr lang="pt-BR"/>
            </a:br>
            <a:r>
              <a:rPr lang="pt-BR"/>
              <a:t>Regressão linear: acha os coeficientes pela equação normal, minimizando o erro quadrático.</a:t>
            </a:r>
            <a:br>
              <a:rPr lang="pt-BR"/>
            </a:br>
            <a:br>
              <a:rPr lang="pt-BR"/>
            </a:br>
            <a:r>
              <a:rPr lang="pt-BR"/>
              <a:t>Palavras-chave: vizinhos · normal · covariância · equação normal.</a:t>
            </a:r>
            <a:endParaRPr/>
          </a:p>
        </p:txBody>
      </p:sp>
      <p:sp>
        <p:nvSpPr>
          <p:cNvPr id="119" name="Google Shape;119;h3668c5cbc1dbdc57_3_6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h3668c5cbc1dbdc57_3_8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h3668c5cbc1dbdc57_3_8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Validação cruzada de 5 folds. Na classificação os folds mantêm a proporção das classes.</a:t>
            </a:r>
            <a:br>
              <a:rPr lang="pt-BR"/>
            </a:br>
            <a:r>
              <a:rPr lang="pt-BR"/>
              <a:t>Na regressão, as 4 linhas de uma mesma instância ficam no mesmo fold, para o modelo não ver a mesma instância no treino.</a:t>
            </a:r>
            <a:br>
              <a:rPr lang="pt-BR"/>
            </a:br>
            <a:r>
              <a:rPr lang="pt-BR"/>
              <a:t>Z-score calculado só com o treino de cada fold.</a:t>
            </a:r>
            <a:br>
              <a:rPr lang="pt-BR"/>
            </a:br>
            <a:r>
              <a:rPr lang="pt-BR"/>
              <a:t>Precisão, recall e F1 em média macro: as duas classes pesam igual.</a:t>
            </a:r>
            <a:br>
              <a:rPr lang="pt-BR"/>
            </a:br>
            <a:br>
              <a:rPr lang="pt-BR"/>
            </a:br>
            <a:r>
              <a:rPr lang="pt-BR"/>
              <a:t>Palavras-chave: 5 folds · estratificado · agrupado · z-score · média macro.</a:t>
            </a:r>
            <a:endParaRPr/>
          </a:p>
        </p:txBody>
      </p:sp>
      <p:sp>
        <p:nvSpPr>
          <p:cNvPr id="142" name="Google Shape;142;h3668c5cbc1dbdc57_3_8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3668c5cbc1dbdc57_3_10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3668c5cbc1dbdc57_3_100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kNN Manhattan foi o melhor: acurácia 79,0%. A Euclidiana ficou praticamente empatada.</a:t>
            </a:r>
            <a:br>
              <a:rPr lang="pt-BR"/>
            </a:br>
            <a:r>
              <a:rPr lang="pt-BR"/>
              <a:t>Bayes univariado: 51,1%, abaixo dos 65% de quem chuta sempre a classe maior.</a:t>
            </a:r>
            <a:br>
              <a:rPr lang="pt-BR"/>
            </a:br>
            <a:r>
              <a:rPr lang="pt-BR"/>
              <a:t>Bayes multivariado: 60,6%.</a:t>
            </a:r>
            <a:br>
              <a:rPr lang="pt-BR"/>
            </a:br>
            <a:r>
              <a:rPr lang="pt-BR"/>
              <a:t>Tempos em milissegundos, por fold.</a:t>
            </a:r>
            <a:br>
              <a:rPr lang="pt-BR"/>
            </a:br>
            <a:br>
              <a:rPr lang="pt-BR"/>
            </a:br>
            <a:r>
              <a:rPr lang="pt-BR"/>
              <a:t>Palavras-chave: kNN 79% · Bayes abaixo do chute · média ± desvio.</a:t>
            </a:r>
            <a:endParaRPr/>
          </a:p>
        </p:txBody>
      </p:sp>
      <p:sp>
        <p:nvSpPr>
          <p:cNvPr id="158" name="Google Shape;158;h3668c5cbc1dbdc57_3_10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3668c5cbc1dbdc57_3_11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h3668c5cbc1dbdc57_3_11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Bayes univariado classifica 904 defeitos comuns como Other_Faults, cerca de 71% deles.</a:t>
            </a:r>
            <a:br>
              <a:rPr lang="pt-BR"/>
            </a:br>
            <a:r>
              <a:rPr lang="pt-BR"/>
              <a:t>Por isso o recall da classe Other é alto, mas a acurácia cai.</a:t>
            </a:r>
            <a:br>
              <a:rPr lang="pt-BR"/>
            </a:br>
            <a:r>
              <a:rPr lang="pt-BR"/>
              <a:t>O kNN erra mais no sentido contrário: deixa passar parte dos Other_Faults.</a:t>
            </a:r>
            <a:br>
              <a:rPr lang="pt-BR"/>
            </a:br>
            <a:br>
              <a:rPr lang="pt-BR"/>
            </a:br>
            <a:r>
              <a:rPr lang="pt-BR"/>
              <a:t>Palavras-chave: falsos positivos · Bayes puxa para Other · kNN equilibrado.</a:t>
            </a:r>
            <a:endParaRPr/>
          </a:p>
        </p:txBody>
      </p:sp>
      <p:sp>
        <p:nvSpPr>
          <p:cNvPr id="168" name="Google Shape;168;h3668c5cbc1dbdc57_3_11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3668c5cbc1dbdc57_3_109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3668c5cbc1dbdc57_3_109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kNN fica perto de 0,79 de acurácia e 0,76 de F1 com as duas distâncias.</a:t>
            </a:r>
            <a:br>
              <a:rPr lang="pt-BR"/>
            </a:br>
            <a:r>
              <a:rPr lang="pt-BR"/>
              <a:t>Os dois Bayes ficam bem abaixo. Os atributos não seguem uma normal (áreas e luminosidade são muito assimétricas) e não são independentes.</a:t>
            </a:r>
            <a:br>
              <a:rPr lang="pt-BR"/>
            </a:br>
            <a:r>
              <a:rPr lang="pt-BR"/>
              <a:t>O multivariado melhora porque considera a correlação, mas a hipótese de normal continua falhando.</a:t>
            </a:r>
            <a:br>
              <a:rPr lang="pt-BR"/>
            </a:br>
            <a:br>
              <a:rPr lang="pt-BR"/>
            </a:br>
            <a:r>
              <a:rPr lang="pt-BR"/>
              <a:t>Palavras-chave: kNN &gt; Bayes · dados não normais · correlação entre atributos.</a:t>
            </a:r>
            <a:endParaRPr/>
          </a:p>
        </p:txBody>
      </p:sp>
      <p:sp>
        <p:nvSpPr>
          <p:cNvPr id="180" name="Google Shape;180;h3668c5cbc1dbdc57_3_109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h3668c5cbc1dbdc57_3_145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h3668c5cbc1dbdc57_3_145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Testei k de 1 a 21 como análise extra.</a:t>
            </a:r>
            <a:br>
              <a:rPr lang="pt-BR"/>
            </a:br>
            <a:r>
              <a:rPr lang="pt-BR"/>
              <a:t>Com k = 1 o modelo decora ruído: na regressão o R² fica negativo.</a:t>
            </a:r>
            <a:br>
              <a:rPr lang="pt-BR"/>
            </a:br>
            <a:r>
              <a:rPr lang="pt-BR"/>
              <a:t>k = 5 fica perto do melhor nos dois casos. Mantive k = 5 fixo na tabela para não escolher k olhando o teste.</a:t>
            </a:r>
            <a:br>
              <a:rPr lang="pt-BR"/>
            </a:br>
            <a:br>
              <a:rPr lang="pt-BR"/>
            </a:br>
            <a:r>
              <a:rPr lang="pt-BR"/>
              <a:t>Palavras-chave: k = 1 decora · k = 5 estável · sem ajuste no teste.</a:t>
            </a:r>
            <a:endParaRPr/>
          </a:p>
        </p:txBody>
      </p:sp>
      <p:sp>
        <p:nvSpPr>
          <p:cNvPr id="189" name="Google Shape;189;h3668c5cbc1dbdc57_3_145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3668c5cbc1dbdc57_3_12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h3668c5cbc1dbdc57_3_128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Regressão linear e kNN Manhattan ficaram com R² parecido, perto de 0,31.</a:t>
            </a:r>
            <a:br>
              <a:rPr lang="pt-BR"/>
            </a:br>
            <a:r>
              <a:rPr lang="pt-BR"/>
              <a:t>A linear varia menos entre os folds. O kNN Manhattan tem o menor erro absoluto.</a:t>
            </a:r>
            <a:br>
              <a:rPr lang="pt-BR"/>
            </a:br>
            <a:r>
              <a:rPr lang="pt-BR"/>
              <a:t>O R² é baixo para todos: o tempo depende muito do algoritmo e da instância, e muitas execuções batem o limite.</a:t>
            </a:r>
            <a:br>
              <a:rPr lang="pt-BR"/>
            </a:br>
            <a:r>
              <a:rPr lang="pt-BR"/>
              <a:t>Métricas calculadas na escala log(1 + runtime).</a:t>
            </a:r>
            <a:br>
              <a:rPr lang="pt-BR"/>
            </a:br>
            <a:br>
              <a:rPr lang="pt-BR"/>
            </a:br>
            <a:r>
              <a:rPr lang="pt-BR"/>
              <a:t>Palavras-chave: R² ≈ 0,31 · linear mais estável · limite de 3600 s.</a:t>
            </a:r>
            <a:endParaRPr/>
          </a:p>
        </p:txBody>
      </p:sp>
      <p:sp>
        <p:nvSpPr>
          <p:cNvPr id="198" name="Google Shape;198;h3668c5cbc1dbdc57_3_12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h3668c5cbc1dbdc57_3_137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h3668c5cbc1dbdc57_3_137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kNN praticamente não treina, só guarda os dados. Mas no teste calcula a distância até todos os pontos de treino, por isso é o mais lento.</a:t>
            </a:r>
            <a:br>
              <a:rPr lang="pt-BR"/>
            </a:br>
            <a:r>
              <a:rPr lang="pt-BR"/>
              <a:t>Bayes e regressão linear resumem o treino em poucos parâmetros. Prever é uma conta rápida.</a:t>
            </a:r>
            <a:br>
              <a:rPr lang="pt-BR"/>
            </a:br>
            <a:r>
              <a:rPr lang="pt-BR"/>
              <a:t>Na regressão, a linear prevê cerca de 3860 vezes mais rápido que o kNN.</a:t>
            </a:r>
            <a:br>
              <a:rPr lang="pt-BR"/>
            </a:br>
            <a:br>
              <a:rPr lang="pt-BR"/>
            </a:br>
            <a:r>
              <a:rPr lang="pt-BR"/>
              <a:t>Palavras-chave: kNN lento no teste · modelos com parâmetros são rápidos.</a:t>
            </a:r>
            <a:endParaRPr/>
          </a:p>
        </p:txBody>
      </p:sp>
      <p:sp>
        <p:nvSpPr>
          <p:cNvPr id="208" name="Google Shape;208;h3668c5cbc1dbdc57_3_137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h3668c5cbc1dbdc57_3_153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h3668c5cbc1dbdc57_3_153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Classificação: o kNN Manhattan foi o melhor. O Bayes univariado é o mais rápido, mas erra demais. Vale a pena o kNN: cerca de 60 ms por fold é aceitável para um ganho grande de acurácia.</a:t>
            </a:r>
            <a:br>
              <a:rPr lang="pt-BR"/>
            </a:br>
            <a:r>
              <a:rPr lang="pt-BR"/>
              <a:t>Regressão: a Regressão Linear foi a melhor e a mais rápida ao mesmo tempo, com o mesmo R² do kNN, menos variação e teste centenas de vezes mais rápido.</a:t>
            </a:r>
            <a:br>
              <a:rPr lang="pt-BR"/>
            </a:br>
            <a:r>
              <a:rPr lang="pt-BR"/>
              <a:t>Limitações: os dados não seguem uma normal, o tempo tem limite de 3600 s e k e λ ficaram fixos.</a:t>
            </a:r>
            <a:br>
              <a:rPr lang="pt-BR"/>
            </a:br>
            <a:br>
              <a:rPr lang="pt-BR"/>
            </a:br>
            <a:r>
              <a:rPr lang="pt-BR"/>
              <a:t>Palavras-chave: melhor · mais rápido · vale a pena · limitações.</a:t>
            </a:r>
            <a:endParaRPr/>
          </a:p>
        </p:txBody>
      </p:sp>
      <p:sp>
        <p:nvSpPr>
          <p:cNvPr id="217" name="Google Shape;217;h3668c5cbc1dbdc57_3_15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3668c5cbc1dbdc57_3_176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0" name="Google Shape;240;h3668c5cbc1dbdc57_3_176:notes"/>
          <p:cNvSpPr txBox="1"/>
          <p:nvPr>
            <p:ph idx="1" type="body"/>
          </p:nvPr>
        </p:nvSpPr>
        <p:spPr>
          <a:xfrm>
            <a:off x="685800" y="3300413"/>
            <a:ext cx="5486400" cy="27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Slide de apoio. Não precisa ler.</a:t>
            </a:r>
            <a:endParaRPr/>
          </a:p>
        </p:txBody>
      </p:sp>
      <p:sp>
        <p:nvSpPr>
          <p:cNvPr id="241" name="Google Shape;241;h3668c5cbc1dbdc57_3_176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A">
  <p:cSld name="CAPA">
    <p:bg>
      <p:bgPr>
        <a:solidFill>
          <a:srgbClr val="1B2329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/>
          <p:nvPr>
            <p:ph type="title"/>
          </p:nvPr>
        </p:nvSpPr>
        <p:spPr>
          <a:xfrm>
            <a:off x="411480" y="1303020"/>
            <a:ext cx="72009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mbria"/>
              <a:buNone/>
              <a:defRPr b="1" i="0" sz="30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UDO">
  <p:cSld name="CONTEUDO"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  <a:defRPr b="1" i="0" sz="23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6" name="Google Shape;56;p15"/>
          <p:cNvSpPr/>
          <p:nvPr/>
        </p:nvSpPr>
        <p:spPr>
          <a:xfrm>
            <a:off x="411480" y="4800600"/>
            <a:ext cx="4114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800"/>
              <a:buFont typeface="Calibri"/>
              <a:buNone/>
            </a:pPr>
            <a:r>
              <a:rPr b="0" i="0" lang="pt-BR" sz="8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Inteligência Artificial Computacional · AV2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SCURO">
  <p:cSld name="ESCURO">
    <p:bg>
      <p:bgPr>
        <a:solidFill>
          <a:srgbClr val="1B2329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Cambria"/>
              <a:buNone/>
              <a:defRPr b="1" i="0" sz="23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/>
          <p:nvPr>
            <p:ph type="title"/>
          </p:nvPr>
        </p:nvSpPr>
        <p:spPr>
          <a:xfrm>
            <a:off x="411480" y="1303020"/>
            <a:ext cx="72009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ambria"/>
              <a:buNone/>
            </a:pPr>
            <a:r>
              <a:rPr b="1" lang="pt-BR" sz="30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Avaliação de Algoritmos de Aprendizado Supervisionado</a:t>
            </a:r>
            <a:endParaRPr sz="3000"/>
          </a:p>
        </p:txBody>
      </p:sp>
      <p:sp>
        <p:nvSpPr>
          <p:cNvPr id="67" name="Google Shape;67;p18"/>
          <p:cNvSpPr txBox="1"/>
          <p:nvPr/>
        </p:nvSpPr>
        <p:spPr>
          <a:xfrm>
            <a:off x="411480" y="2674620"/>
            <a:ext cx="7200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500"/>
              <a:buFont typeface="Calibri"/>
              <a:buNone/>
            </a:pPr>
            <a:r>
              <a:rPr b="0" i="0" lang="pt-BR" sz="15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Classificação (OpenML 1504) e Regressão (OpenML 41700)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8"/>
          <p:cNvSpPr txBox="1"/>
          <p:nvPr/>
        </p:nvSpPr>
        <p:spPr>
          <a:xfrm>
            <a:off x="411480" y="3634740"/>
            <a:ext cx="54864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Calibri"/>
              <a:buNone/>
            </a:pPr>
            <a:r>
              <a:rPr b="1" i="0" lang="pt-BR" sz="1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Márcio Lima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8"/>
          <p:cNvSpPr txBox="1"/>
          <p:nvPr/>
        </p:nvSpPr>
        <p:spPr>
          <a:xfrm>
            <a:off x="411480" y="4011930"/>
            <a:ext cx="7543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UNIFOR · Inteligência Artificial Computacional · Profa. Dra. Cynthia Moreira Maia · 15/10/2026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Introdução</a:t>
            </a:r>
            <a:endParaRPr sz="2300"/>
          </a:p>
        </p:txBody>
      </p:sp>
      <p:sp>
        <p:nvSpPr>
          <p:cNvPr id="76" name="Google Shape;76;p19"/>
          <p:cNvSpPr/>
          <p:nvPr/>
        </p:nvSpPr>
        <p:spPr>
          <a:xfrm>
            <a:off x="411480" y="1062990"/>
            <a:ext cx="2590800" cy="2057400"/>
          </a:xfrm>
          <a:prstGeom prst="roundRect">
            <a:avLst>
              <a:gd fmla="val 2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9"/>
          <p:cNvSpPr txBox="1"/>
          <p:nvPr/>
        </p:nvSpPr>
        <p:spPr>
          <a:xfrm>
            <a:off x="617220" y="1268730"/>
            <a:ext cx="2179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Objetivo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9"/>
          <p:cNvSpPr txBox="1"/>
          <p:nvPr/>
        </p:nvSpPr>
        <p:spPr>
          <a:xfrm>
            <a:off x="617220" y="1748790"/>
            <a:ext cx="21792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0" i="0" lang="pt-BR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Comparar algoritmos supervisionados em desempenho e tempo de execução, com validação cruzada de 5 folds.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9"/>
          <p:cNvSpPr/>
          <p:nvPr/>
        </p:nvSpPr>
        <p:spPr>
          <a:xfrm>
            <a:off x="3276524" y="1062990"/>
            <a:ext cx="2590800" cy="2057400"/>
          </a:xfrm>
          <a:prstGeom prst="roundRect">
            <a:avLst>
              <a:gd fmla="val 2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9"/>
          <p:cNvSpPr txBox="1"/>
          <p:nvPr/>
        </p:nvSpPr>
        <p:spPr>
          <a:xfrm>
            <a:off x="3482264" y="1268730"/>
            <a:ext cx="2179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Algoritmos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9"/>
          <p:cNvSpPr txBox="1"/>
          <p:nvPr/>
        </p:nvSpPr>
        <p:spPr>
          <a:xfrm>
            <a:off x="3482264" y="1748790"/>
            <a:ext cx="21792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0" i="0" lang="pt-BR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kNN (Euclidiana e Manhattan), Bayes univariado e multivariado, Regressão Linear Múltipla.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9"/>
          <p:cNvSpPr/>
          <p:nvPr/>
        </p:nvSpPr>
        <p:spPr>
          <a:xfrm>
            <a:off x="6141568" y="1062990"/>
            <a:ext cx="2590800" cy="2057400"/>
          </a:xfrm>
          <a:prstGeom prst="roundRect">
            <a:avLst>
              <a:gd fmla="val 2667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9"/>
          <p:cNvSpPr txBox="1"/>
          <p:nvPr/>
        </p:nvSpPr>
        <p:spPr>
          <a:xfrm>
            <a:off x="6347308" y="1268730"/>
            <a:ext cx="2179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Relevância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347308" y="1748790"/>
            <a:ext cx="2179200" cy="12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alibri"/>
              <a:buNone/>
            </a:pPr>
            <a:r>
              <a:rPr b="0" i="0" lang="pt-BR" sz="14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 escolha de um modelo depende do equilíbrio entre taxa de acerto e custo computacional.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9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0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Classificação: Steel Plates Faults (OpenML 1504)</a:t>
            </a:r>
            <a:endParaRPr sz="2300"/>
          </a:p>
        </p:txBody>
      </p:sp>
      <p:sp>
        <p:nvSpPr>
          <p:cNvPr id="92" name="Google Shape;92;p20"/>
          <p:cNvSpPr txBox="1"/>
          <p:nvPr/>
        </p:nvSpPr>
        <p:spPr>
          <a:xfrm>
            <a:off x="41148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1941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0"/>
          <p:cNvSpPr txBox="1"/>
          <p:nvPr/>
        </p:nvSpPr>
        <p:spPr>
          <a:xfrm>
            <a:off x="41148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amostras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0"/>
          <p:cNvSpPr txBox="1"/>
          <p:nvPr/>
        </p:nvSpPr>
        <p:spPr>
          <a:xfrm>
            <a:off x="187452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26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0"/>
          <p:cNvSpPr txBox="1"/>
          <p:nvPr/>
        </p:nvSpPr>
        <p:spPr>
          <a:xfrm>
            <a:off x="187452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atributos (de 33)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0"/>
          <p:cNvSpPr txBox="1"/>
          <p:nvPr/>
        </p:nvSpPr>
        <p:spPr>
          <a:xfrm>
            <a:off x="333756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0"/>
          <p:cNvSpPr txBox="1"/>
          <p:nvPr/>
        </p:nvSpPr>
        <p:spPr>
          <a:xfrm>
            <a:off x="333756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classes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0"/>
          <p:cNvSpPr txBox="1"/>
          <p:nvPr/>
        </p:nvSpPr>
        <p:spPr>
          <a:xfrm>
            <a:off x="411480" y="2091690"/>
            <a:ext cx="4320600" cy="24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Defeitos em chapas de aço (Semeion, UCI).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Atributos: posição, área, perímetro, luminosidade, espessura.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Classe 0: defeito comum (6 tipos). Classe 1: Other_Faults.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Removidos V28 a V33 (vazamento) e TypeOfSteel_A400 (redundante).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4920" y="1062990"/>
            <a:ext cx="36348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0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Regressão: CPMP-2015 (OpenML 41700)</a:t>
            </a:r>
            <a:endParaRPr sz="2300"/>
          </a:p>
        </p:txBody>
      </p:sp>
      <p:sp>
        <p:nvSpPr>
          <p:cNvPr id="107" name="Google Shape;107;p21"/>
          <p:cNvSpPr txBox="1"/>
          <p:nvPr/>
        </p:nvSpPr>
        <p:spPr>
          <a:xfrm>
            <a:off x="41148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2108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1"/>
          <p:cNvSpPr txBox="1"/>
          <p:nvPr/>
        </p:nvSpPr>
        <p:spPr>
          <a:xfrm>
            <a:off x="41148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amostras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1"/>
          <p:cNvSpPr txBox="1"/>
          <p:nvPr/>
        </p:nvSpPr>
        <p:spPr>
          <a:xfrm>
            <a:off x="187452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25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1"/>
          <p:cNvSpPr txBox="1"/>
          <p:nvPr/>
        </p:nvSpPr>
        <p:spPr>
          <a:xfrm>
            <a:off x="187452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atributos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1"/>
          <p:cNvSpPr txBox="1"/>
          <p:nvPr/>
        </p:nvSpPr>
        <p:spPr>
          <a:xfrm>
            <a:off x="3337560" y="1062990"/>
            <a:ext cx="1326000" cy="5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Cambria"/>
              <a:buNone/>
            </a:pPr>
            <a:r>
              <a:rPr b="1" i="0" lang="pt-BR" sz="30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527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337560" y="1577340"/>
            <a:ext cx="13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instâncias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1"/>
          <p:cNvSpPr txBox="1"/>
          <p:nvPr/>
        </p:nvSpPr>
        <p:spPr>
          <a:xfrm>
            <a:off x="411480" y="2091690"/>
            <a:ext cx="4320600" cy="24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Tempo de execução de algoritmos A*/IDA* no pré-empilhamento de contêineres.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Mediana de 66 s; 582 execuções no limite de 3600 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Alvo transformado: log(1 + runtime).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Removidos instance_id, repetition e runstatus.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4920" y="1062990"/>
            <a:ext cx="36348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21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Algoritmos</a:t>
            </a:r>
            <a:endParaRPr sz="2300"/>
          </a:p>
        </p:txBody>
      </p:sp>
      <p:sp>
        <p:nvSpPr>
          <p:cNvPr id="122" name="Google Shape;122;p22"/>
          <p:cNvSpPr/>
          <p:nvPr/>
        </p:nvSpPr>
        <p:spPr>
          <a:xfrm>
            <a:off x="411480" y="1062990"/>
            <a:ext cx="4023300" cy="1577400"/>
          </a:xfrm>
          <a:prstGeom prst="roundRect">
            <a:avLst>
              <a:gd fmla="val 34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2"/>
          <p:cNvSpPr txBox="1"/>
          <p:nvPr/>
        </p:nvSpPr>
        <p:spPr>
          <a:xfrm>
            <a:off x="617220" y="123444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kNN (k = 5)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2"/>
          <p:cNvSpPr txBox="1"/>
          <p:nvPr/>
        </p:nvSpPr>
        <p:spPr>
          <a:xfrm>
            <a:off x="617220" y="161163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Calibri"/>
              <a:buNone/>
            </a:pPr>
            <a:r>
              <a:rPr b="0" i="0" lang="pt-BR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Classe mais votada ou média dos 5 vizinhos.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2"/>
          <p:cNvSpPr txBox="1"/>
          <p:nvPr/>
        </p:nvSpPr>
        <p:spPr>
          <a:xfrm>
            <a:off x="617220" y="2057400"/>
            <a:ext cx="361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mbria Math"/>
              <a:buNone/>
            </a:pPr>
            <a:r>
              <a:rPr b="0" i="0" lang="pt-BR" sz="1200" u="none" cap="none" strike="noStrike">
                <a:solidFill>
                  <a:schemeClr val="accent1"/>
                </a:solidFill>
                <a:latin typeface="Cambria Math"/>
                <a:ea typeface="Cambria Math"/>
                <a:cs typeface="Cambria Math"/>
                <a:sym typeface="Cambria Math"/>
              </a:rPr>
              <a:t>Euclidiana: √Σ(xᵢ − yᵢ)²     Manhattan: Σ|xᵢ − yᵢ|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2"/>
          <p:cNvSpPr/>
          <p:nvPr/>
        </p:nvSpPr>
        <p:spPr>
          <a:xfrm>
            <a:off x="4709046" y="1062990"/>
            <a:ext cx="4023300" cy="1577400"/>
          </a:xfrm>
          <a:prstGeom prst="roundRect">
            <a:avLst>
              <a:gd fmla="val 34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4914786" y="123444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Bayes univariado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2"/>
          <p:cNvSpPr txBox="1"/>
          <p:nvPr/>
        </p:nvSpPr>
        <p:spPr>
          <a:xfrm>
            <a:off x="4914786" y="161163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Calibri"/>
              <a:buNone/>
            </a:pPr>
            <a:r>
              <a:rPr b="0" i="0" lang="pt-BR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Uma normal por atributo; atributos independentes.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2"/>
          <p:cNvSpPr txBox="1"/>
          <p:nvPr/>
        </p:nvSpPr>
        <p:spPr>
          <a:xfrm>
            <a:off x="4914786" y="2057400"/>
            <a:ext cx="361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mbria Math"/>
              <a:buNone/>
            </a:pPr>
            <a:r>
              <a:rPr b="0" i="0" lang="pt-BR" sz="1200" u="none" cap="none" strike="noStrike">
                <a:solidFill>
                  <a:schemeClr val="accent1"/>
                </a:solidFill>
                <a:latin typeface="Cambria Math"/>
                <a:ea typeface="Cambria Math"/>
                <a:cs typeface="Cambria Math"/>
                <a:sym typeface="Cambria Math"/>
              </a:rPr>
              <a:t>p(x) = 1/(√(2π)σ) · exp[−½((x − μ)/σ)²]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2"/>
          <p:cNvSpPr/>
          <p:nvPr/>
        </p:nvSpPr>
        <p:spPr>
          <a:xfrm>
            <a:off x="411480" y="2880360"/>
            <a:ext cx="4023300" cy="1577400"/>
          </a:xfrm>
          <a:prstGeom prst="roundRect">
            <a:avLst>
              <a:gd fmla="val 34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2"/>
          <p:cNvSpPr txBox="1"/>
          <p:nvPr/>
        </p:nvSpPr>
        <p:spPr>
          <a:xfrm>
            <a:off x="617220" y="305181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Bayes multivariado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617220" y="342900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Calibri"/>
              <a:buNone/>
            </a:pPr>
            <a:r>
              <a:rPr b="0" i="0" lang="pt-BR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Normal de d dimensões com covariância 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2"/>
          <p:cNvSpPr txBox="1"/>
          <p:nvPr/>
        </p:nvSpPr>
        <p:spPr>
          <a:xfrm>
            <a:off x="617220" y="3874770"/>
            <a:ext cx="361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mbria Math"/>
              <a:buNone/>
            </a:pPr>
            <a:r>
              <a:rPr b="0" i="0" lang="pt-BR" sz="1200" u="none" cap="none" strike="noStrike">
                <a:solidFill>
                  <a:schemeClr val="accent1"/>
                </a:solidFill>
                <a:latin typeface="Cambria Math"/>
                <a:ea typeface="Cambria Math"/>
                <a:cs typeface="Cambria Math"/>
                <a:sym typeface="Cambria Math"/>
              </a:rPr>
              <a:t>p(x) = exp[−½(x − μ)ᵗΣ⁻¹(x − μ)] / ((2π)^(d/2)|Σ|^½)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2"/>
          <p:cNvSpPr/>
          <p:nvPr/>
        </p:nvSpPr>
        <p:spPr>
          <a:xfrm>
            <a:off x="4709046" y="2880360"/>
            <a:ext cx="4023300" cy="1577400"/>
          </a:xfrm>
          <a:prstGeom prst="roundRect">
            <a:avLst>
              <a:gd fmla="val 347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2"/>
          <p:cNvSpPr txBox="1"/>
          <p:nvPr/>
        </p:nvSpPr>
        <p:spPr>
          <a:xfrm>
            <a:off x="4914786" y="305181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Regressão linear múltipla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914786" y="3429000"/>
            <a:ext cx="36117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Calibri"/>
              <a:buNone/>
            </a:pPr>
            <a:r>
              <a:rPr b="0" i="0" lang="pt-BR" sz="12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Minimiza a soma dos erros ao quadrado.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4914786" y="3874770"/>
            <a:ext cx="3611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mbria Math"/>
              <a:buNone/>
            </a:pPr>
            <a:r>
              <a:rPr b="0" i="0" lang="pt-BR" sz="1200" u="none" cap="none" strike="noStrike">
                <a:solidFill>
                  <a:schemeClr val="accent1"/>
                </a:solidFill>
                <a:latin typeface="Cambria Math"/>
                <a:ea typeface="Cambria Math"/>
                <a:cs typeface="Cambria Math"/>
                <a:sym typeface="Cambria Math"/>
              </a:rPr>
              <a:t>ŷ = Xβ        β = (XᵗX)⁻¹Xᵗy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2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Protocolo e métricas</a:t>
            </a:r>
            <a:endParaRPr sz="2300"/>
          </a:p>
        </p:txBody>
      </p:sp>
      <p:sp>
        <p:nvSpPr>
          <p:cNvPr id="145" name="Google Shape;145;p23"/>
          <p:cNvSpPr/>
          <p:nvPr/>
        </p:nvSpPr>
        <p:spPr>
          <a:xfrm>
            <a:off x="411480" y="1062990"/>
            <a:ext cx="3840600" cy="3154800"/>
          </a:xfrm>
          <a:prstGeom prst="roundRect">
            <a:avLst>
              <a:gd fmla="val 1739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 txBox="1"/>
          <p:nvPr/>
        </p:nvSpPr>
        <p:spPr>
          <a:xfrm>
            <a:off x="617220" y="1234440"/>
            <a:ext cx="2743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Protocolo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3"/>
          <p:cNvSpPr txBox="1"/>
          <p:nvPr/>
        </p:nvSpPr>
        <p:spPr>
          <a:xfrm>
            <a:off x="617220" y="1680210"/>
            <a:ext cx="3429000" cy="26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Validação cruzada de 5 folds.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Classificação: folds estratificados.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Regressão: folds agrupados por instância.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Z-score ajustado no treino de cada fold.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Resultado: média ± desvio padrão.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3"/>
          <p:cNvSpPr/>
          <p:nvPr/>
        </p:nvSpPr>
        <p:spPr>
          <a:xfrm>
            <a:off x="4526280" y="1062990"/>
            <a:ext cx="4206000" cy="1474500"/>
          </a:xfrm>
          <a:prstGeom prst="roundRect">
            <a:avLst>
              <a:gd fmla="val 372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3"/>
          <p:cNvSpPr txBox="1"/>
          <p:nvPr/>
        </p:nvSpPr>
        <p:spPr>
          <a:xfrm>
            <a:off x="4732020" y="1234440"/>
            <a:ext cx="2743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Classificação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3"/>
          <p:cNvSpPr txBox="1"/>
          <p:nvPr/>
        </p:nvSpPr>
        <p:spPr>
          <a:xfrm>
            <a:off x="4732020" y="1611630"/>
            <a:ext cx="37944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Acurácia = acertos /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Precisão = VP / (VP + FP)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Recall = VP / (VP + FN)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F1 = 2·P·R / (P + 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3"/>
          <p:cNvSpPr/>
          <p:nvPr/>
        </p:nvSpPr>
        <p:spPr>
          <a:xfrm>
            <a:off x="4526280" y="2743200"/>
            <a:ext cx="4206000" cy="1474500"/>
          </a:xfrm>
          <a:prstGeom prst="roundRect">
            <a:avLst>
              <a:gd fmla="val 372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3"/>
          <p:cNvSpPr txBox="1"/>
          <p:nvPr/>
        </p:nvSpPr>
        <p:spPr>
          <a:xfrm>
            <a:off x="4732020" y="2914650"/>
            <a:ext cx="2743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Regressão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3"/>
          <p:cNvSpPr txBox="1"/>
          <p:nvPr/>
        </p:nvSpPr>
        <p:spPr>
          <a:xfrm>
            <a:off x="4732020" y="3291840"/>
            <a:ext cx="37944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R² = 1 − Σ(y − ŷ)² / Σ(y − ȳ)²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R² ajustado = 1 − (1 − R²)(n − 1)/(n − p − 1)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MAE = média |y − ŷ|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Resultados: classificação</a:t>
            </a:r>
            <a:endParaRPr sz="2300"/>
          </a:p>
        </p:txBody>
      </p:sp>
      <p:graphicFrame>
        <p:nvGraphicFramePr>
          <p:cNvPr id="161" name="Google Shape;161;p24"/>
          <p:cNvGraphicFramePr/>
          <p:nvPr/>
        </p:nvGraphicFramePr>
        <p:xfrm>
          <a:off x="411480" y="10629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{4AD5583B-B206-4D64-B3AF-6532A60A89E8}</a:tableStyleId>
              </a:tblPr>
              <a:tblGrid>
                <a:gridCol w="2057400"/>
                <a:gridCol w="1062975"/>
                <a:gridCol w="1062975"/>
                <a:gridCol w="1062975"/>
                <a:gridCol w="1062975"/>
                <a:gridCol w="1001250"/>
                <a:gridCol w="1003325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Classificador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Acurácia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Precisão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Recall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F1-Score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Treino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Teste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Euclidiana)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0,788 ± 0,012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0,773 ± 0,016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0,748 ± 0,015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0,756 ± 0,014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62,156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kNN (Dist. Manhattan)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0,790 ± 0,018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0,777 ± 0,021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0,746 ± 0,022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0,756 ± 0,022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57,895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Bayesiano (Univariado)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0,511 ± 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0,651 ± 0,011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0,610 ± 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0,502 ± 0,005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0,248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0,086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Bayesiano (Multivariado)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0,606 ± 0,050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0,691 ± 0,012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0,673 ± 0,013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0,600 ± 0,044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0,368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0,546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162" name="Google Shape;162;p24"/>
          <p:cNvSpPr txBox="1"/>
          <p:nvPr/>
        </p:nvSpPr>
        <p:spPr>
          <a:xfrm>
            <a:off x="411480" y="3326130"/>
            <a:ext cx="832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Média ± desvio padrão nos 5 folds. Precisão, recall e F1 em média macro.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411480" y="3806190"/>
            <a:ext cx="83208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Melhor: kNN Manhattan, com 79,0% de acurácia.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Char char="•"/>
            </a:pPr>
            <a:r>
              <a:rPr b="0" i="0" lang="pt-BR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Prever sempre a classe maior daria 65%: o Bayes univariado fica abaixo disso.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4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5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Matriz de confusão</a:t>
            </a:r>
            <a:endParaRPr sz="2300"/>
          </a:p>
        </p:txBody>
      </p:sp>
      <p:sp>
        <p:nvSpPr>
          <p:cNvPr id="171" name="Google Shape;171;p25"/>
          <p:cNvSpPr txBox="1"/>
          <p:nvPr/>
        </p:nvSpPr>
        <p:spPr>
          <a:xfrm>
            <a:off x="411480" y="1062990"/>
            <a:ext cx="40188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kNN Manhattan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2" name="Google Shape;172;p25"/>
          <p:cNvGraphicFramePr/>
          <p:nvPr/>
        </p:nvGraphicFramePr>
        <p:xfrm>
          <a:off x="411480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{4AD5583B-B206-4D64-B3AF-6532A60A89E8}</a:tableStyleId>
              </a:tblPr>
              <a:tblGrid>
                <a:gridCol w="1165850"/>
                <a:gridCol w="1426450"/>
                <a:gridCol w="1426450"/>
              </a:tblGrid>
              <a:tr h="377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Calibri"/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Previsto comum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Previsto Other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9601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Real comum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FFFFFF"/>
                          </a:solidFill>
                        </a:rPr>
                        <a:t>1129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F668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1B2329"/>
                          </a:solidFill>
                        </a:rPr>
                        <a:t>139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D5C6"/>
                    </a:solidFill>
                  </a:tcPr>
                </a:tc>
              </a:tr>
              <a:tr h="9601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Real Other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1B2329"/>
                          </a:solidFill>
                        </a:rPr>
                        <a:t>268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D5C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FFFFFF"/>
                          </a:solidFill>
                        </a:rPr>
                        <a:t>405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F6688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25"/>
          <p:cNvSpPr txBox="1"/>
          <p:nvPr/>
        </p:nvSpPr>
        <p:spPr>
          <a:xfrm>
            <a:off x="4711446" y="1062990"/>
            <a:ext cx="40188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Bayes Univariado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4" name="Google Shape;174;p25"/>
          <p:cNvGraphicFramePr/>
          <p:nvPr/>
        </p:nvGraphicFramePr>
        <p:xfrm>
          <a:off x="4711446" y="15087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{4AD5583B-B206-4D64-B3AF-6532A60A89E8}</a:tableStyleId>
              </a:tblPr>
              <a:tblGrid>
                <a:gridCol w="1165850"/>
                <a:gridCol w="1426450"/>
                <a:gridCol w="1426450"/>
              </a:tblGrid>
              <a:tr h="377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Calibri"/>
                        <a:buNone/>
                      </a:pPr>
                      <a:r>
                        <a:t/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Previsto comum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Previsto Other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9601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Real comum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FFFFFF"/>
                          </a:solidFill>
                        </a:rPr>
                        <a:t>364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F668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1B2329"/>
                          </a:solidFill>
                        </a:rPr>
                        <a:t>904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D5C6"/>
                    </a:solidFill>
                  </a:tcPr>
                </a:tc>
              </a:tr>
              <a:tr h="9601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A4A55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3A4A55"/>
                          </a:solidFill>
                        </a:rPr>
                        <a:t>Real Other</a:t>
                      </a:r>
                      <a:endParaRPr sz="1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1B2329"/>
                          </a:solidFill>
                        </a:rPr>
                        <a:t>45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3D5C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100"/>
                        <a:buFont typeface="Calibri"/>
                        <a:buNone/>
                      </a:pPr>
                      <a:r>
                        <a:rPr b="1" lang="pt-BR" sz="2100" u="none" cap="none" strike="noStrike">
                          <a:solidFill>
                            <a:srgbClr val="FFFFFF"/>
                          </a:solidFill>
                        </a:rPr>
                        <a:t>628</a:t>
                      </a:r>
                      <a:endParaRPr sz="2100" u="none" cap="none" strike="noStrike"/>
                    </a:p>
                  </a:txBody>
                  <a:tcPr marT="34300" marB="34300" marR="68600" marL="68600" anchor="ctr">
                    <a:lnL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F6688"/>
                    </a:solidFill>
                  </a:tcPr>
                </a:tc>
              </a:tr>
            </a:tbl>
          </a:graphicData>
        </a:graphic>
      </p:graphicFrame>
      <p:sp>
        <p:nvSpPr>
          <p:cNvPr id="175" name="Google Shape;175;p25"/>
          <p:cNvSpPr txBox="1"/>
          <p:nvPr/>
        </p:nvSpPr>
        <p:spPr>
          <a:xfrm>
            <a:off x="411480" y="4011930"/>
            <a:ext cx="832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Azul: acertos. Laranja: erros. Soma dos 5 folds (cada amostra aparece uma vez).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5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Classificação: acurácia e F1</a:t>
            </a:r>
            <a:endParaRPr sz="2300"/>
          </a:p>
        </p:txBody>
      </p:sp>
      <p:pic>
        <p:nvPicPr>
          <p:cNvPr id="183" name="Google Shape;18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062990"/>
            <a:ext cx="5212200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6"/>
          <p:cNvSpPr txBox="1"/>
          <p:nvPr/>
        </p:nvSpPr>
        <p:spPr>
          <a:xfrm>
            <a:off x="5897880" y="1268730"/>
            <a:ext cx="2834400" cy="30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kNN: melhor resultado com as duas distâncias.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Bayes univariado fica abaixo do chute fixo (65%).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Atributos assimétricos e correlacionados prejudicam o Bayes.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6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7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Efeito do número de vizinhos (k)</a:t>
            </a:r>
            <a:endParaRPr sz="2300"/>
          </a:p>
        </p:txBody>
      </p:sp>
      <p:pic>
        <p:nvPicPr>
          <p:cNvPr id="192" name="Google Shape;19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1062990"/>
            <a:ext cx="4018800" cy="336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11446" y="1062990"/>
            <a:ext cx="4018800" cy="336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7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8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Resultados: regressão</a:t>
            </a:r>
            <a:endParaRPr sz="2300"/>
          </a:p>
        </p:txBody>
      </p:sp>
      <p:graphicFrame>
        <p:nvGraphicFramePr>
          <p:cNvPr id="201" name="Google Shape;201;p28"/>
          <p:cNvGraphicFramePr/>
          <p:nvPr/>
        </p:nvGraphicFramePr>
        <p:xfrm>
          <a:off x="411517" y="90867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{4AD5583B-B206-4D64-B3AF-6532A60A89E8}</a:tableStyleId>
              </a:tblPr>
              <a:tblGrid>
                <a:gridCol w="2263125"/>
                <a:gridCol w="1268725"/>
                <a:gridCol w="1268725"/>
                <a:gridCol w="1268725"/>
                <a:gridCol w="1124700"/>
                <a:gridCol w="112675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Regressor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R²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R² ajustado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MAE (log)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Treino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Teste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Euclidiana)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0,256 ± 0,025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0,209 ± 0,027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2,206 ± 0,030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0,004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69,285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Manhattan)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0,304 ± 0,061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0,260 ± 0,065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2,094 ± 0,069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68,598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Regressão Linear Múltipla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0,309 ± 0,024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0,265 ± 0,026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2,254 ± 0,053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0,360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1B2329"/>
                          </a:solidFill>
                        </a:rPr>
                        <a:t>0,018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E3D8"/>
                    </a:solidFill>
                  </a:tcPr>
                </a:tc>
              </a:tr>
            </a:tbl>
          </a:graphicData>
        </a:graphic>
      </p:graphicFrame>
      <p:pic>
        <p:nvPicPr>
          <p:cNvPr id="202" name="Google Shape;20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1480" y="2640330"/>
            <a:ext cx="5212200" cy="1988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8"/>
          <p:cNvSpPr txBox="1"/>
          <p:nvPr/>
        </p:nvSpPr>
        <p:spPr>
          <a:xfrm>
            <a:off x="5897880" y="2846070"/>
            <a:ext cx="28344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Alvo em escala log(1 + runtime).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Linear: maior R² e menor desvio.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Euclidiana: pior resultado.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8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9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Tempo de treino e teste</a:t>
            </a:r>
            <a:endParaRPr sz="2300"/>
          </a:p>
        </p:txBody>
      </p:sp>
      <p:graphicFrame>
        <p:nvGraphicFramePr>
          <p:cNvPr id="211" name="Google Shape;211;p29"/>
          <p:cNvGraphicFramePr/>
          <p:nvPr/>
        </p:nvGraphicFramePr>
        <p:xfrm>
          <a:off x="411480" y="106299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{4AD5583B-B206-4D64-B3AF-6532A60A89E8}</a:tableStyleId>
              </a:tblPr>
              <a:tblGrid>
                <a:gridCol w="1645900"/>
                <a:gridCol w="3106650"/>
                <a:gridCol w="1783075"/>
                <a:gridCol w="1785125"/>
              </a:tblGrid>
              <a:tr h="377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Tarefa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Modelo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Treino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100"/>
                        <a:buFont typeface="Calibri"/>
                        <a:buNone/>
                      </a:pPr>
                      <a:r>
                        <a:rPr b="1" lang="pt-BR" sz="1100" u="none" cap="none" strike="noStrike">
                          <a:solidFill>
                            <a:srgbClr val="FFFFFF"/>
                          </a:solidFill>
                        </a:rPr>
                        <a:t>Teste (ms)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A4A55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Classificação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Euclidiana)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62,156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Classificação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Manhattan)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57,895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Classificação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Bayesiano (Univariado)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0,248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0,086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Classificação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Bayesiano (Multivariado)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0,368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0,546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Regressão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Euclidiana)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0,004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69,285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Regressão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kNN (Dist. Manhattan)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0,003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68,598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EF1F3"/>
                    </a:solidFill>
                  </a:tcPr>
                </a:tc>
              </a:tr>
              <a:tr h="37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Regressão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Regressão Linear Múltipla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0,360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B2329"/>
                        </a:buClr>
                        <a:buSzPts val="1100"/>
                        <a:buFont typeface="Calibri"/>
                        <a:buNone/>
                      </a:pPr>
                      <a:r>
                        <a:rPr lang="pt-BR" sz="1100" u="none" cap="none" strike="noStrike">
                          <a:solidFill>
                            <a:srgbClr val="1B2329"/>
                          </a:solidFill>
                        </a:rPr>
                        <a:t>0,018</a:t>
                      </a:r>
                      <a:endParaRPr sz="1100" u="none" cap="none" strike="noStrike"/>
                    </a:p>
                  </a:txBody>
                  <a:tcPr marT="20575" marB="20575" marR="68600" marL="68600" anchor="ctr">
                    <a:lnL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5DCE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2" name="Google Shape;212;p29"/>
          <p:cNvSpPr txBox="1"/>
          <p:nvPr/>
        </p:nvSpPr>
        <p:spPr>
          <a:xfrm>
            <a:off x="411480" y="4320540"/>
            <a:ext cx="832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100"/>
              <a:buFont typeface="Calibri"/>
              <a:buNone/>
            </a:pPr>
            <a:r>
              <a:rPr b="0" i="0" lang="pt-BR" sz="11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Tempo médio por fold. kNN: treino quase zero, teste mais lento.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9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Conclusões</a:t>
            </a:r>
            <a:endParaRPr sz="2300"/>
          </a:p>
        </p:txBody>
      </p:sp>
      <p:sp>
        <p:nvSpPr>
          <p:cNvPr id="220" name="Google Shape;220;p30"/>
          <p:cNvSpPr/>
          <p:nvPr/>
        </p:nvSpPr>
        <p:spPr>
          <a:xfrm>
            <a:off x="411480" y="960120"/>
            <a:ext cx="4023300" cy="2331600"/>
          </a:xfrm>
          <a:prstGeom prst="roundRect">
            <a:avLst>
              <a:gd fmla="val 2353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0"/>
          <p:cNvSpPr txBox="1"/>
          <p:nvPr/>
        </p:nvSpPr>
        <p:spPr>
          <a:xfrm>
            <a:off x="617220" y="1097280"/>
            <a:ext cx="3611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ambria"/>
              <a:buNone/>
            </a:pPr>
            <a:r>
              <a:rPr b="1" i="0" lang="pt-BR" sz="17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Classificação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30"/>
          <p:cNvSpPr txBox="1"/>
          <p:nvPr/>
        </p:nvSpPr>
        <p:spPr>
          <a:xfrm>
            <a:off x="617220" y="1577340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Melhor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0"/>
          <p:cNvSpPr txBox="1"/>
          <p:nvPr/>
        </p:nvSpPr>
        <p:spPr>
          <a:xfrm>
            <a:off x="617220" y="1769364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kNN Manhattan: acurácia 79,0% e F1 0,76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0"/>
          <p:cNvSpPr txBox="1"/>
          <p:nvPr/>
        </p:nvSpPr>
        <p:spPr>
          <a:xfrm>
            <a:off x="617220" y="2139696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Mais rápido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30"/>
          <p:cNvSpPr txBox="1"/>
          <p:nvPr/>
        </p:nvSpPr>
        <p:spPr>
          <a:xfrm>
            <a:off x="617220" y="2331720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Bayes univariado: 0,086 ms, mas 51,1% de acurácia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617220" y="2702052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Vale a pena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0"/>
          <p:cNvSpPr txBox="1"/>
          <p:nvPr/>
        </p:nvSpPr>
        <p:spPr>
          <a:xfrm>
            <a:off x="617220" y="2894076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kNN Manhattan: 18 pontos acima do melhor Bayes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0"/>
          <p:cNvSpPr/>
          <p:nvPr/>
        </p:nvSpPr>
        <p:spPr>
          <a:xfrm>
            <a:off x="4709046" y="960120"/>
            <a:ext cx="4023300" cy="2331600"/>
          </a:xfrm>
          <a:prstGeom prst="roundRect">
            <a:avLst>
              <a:gd fmla="val 2353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30"/>
          <p:cNvSpPr txBox="1"/>
          <p:nvPr/>
        </p:nvSpPr>
        <p:spPr>
          <a:xfrm>
            <a:off x="4914786" y="1097280"/>
            <a:ext cx="3611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ambria"/>
              <a:buNone/>
            </a:pPr>
            <a:r>
              <a:rPr b="1" i="0" lang="pt-BR" sz="1700" u="none" cap="none" strike="noStrike">
                <a:solidFill>
                  <a:schemeClr val="accent1"/>
                </a:solidFill>
                <a:latin typeface="Cambria"/>
                <a:ea typeface="Cambria"/>
                <a:cs typeface="Cambria"/>
                <a:sym typeface="Cambria"/>
              </a:rPr>
              <a:t>Regressão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0"/>
          <p:cNvSpPr txBox="1"/>
          <p:nvPr/>
        </p:nvSpPr>
        <p:spPr>
          <a:xfrm>
            <a:off x="4914786" y="1577340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Melhor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0"/>
          <p:cNvSpPr txBox="1"/>
          <p:nvPr/>
        </p:nvSpPr>
        <p:spPr>
          <a:xfrm>
            <a:off x="4914786" y="1769364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Regressão Linear: R² 0,31 (kNN Manhattan: 0,30)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0"/>
          <p:cNvSpPr txBox="1"/>
          <p:nvPr/>
        </p:nvSpPr>
        <p:spPr>
          <a:xfrm>
            <a:off x="4914786" y="2139696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Mais rápido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0"/>
          <p:cNvSpPr txBox="1"/>
          <p:nvPr/>
        </p:nvSpPr>
        <p:spPr>
          <a:xfrm>
            <a:off x="4914786" y="2331720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Regressão Linear: 0,018 ms contra 69 ms do kNN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0"/>
          <p:cNvSpPr txBox="1"/>
          <p:nvPr/>
        </p:nvSpPr>
        <p:spPr>
          <a:xfrm>
            <a:off x="4914786" y="2702052"/>
            <a:ext cx="36117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Calibri"/>
              <a:buNone/>
            </a:pPr>
            <a:r>
              <a:rPr b="0" i="0" lang="pt-BR" sz="1000" u="none" cap="none" strike="noStrik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rPr>
              <a:t>Vale a pena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0"/>
          <p:cNvSpPr txBox="1"/>
          <p:nvPr/>
        </p:nvSpPr>
        <p:spPr>
          <a:xfrm>
            <a:off x="4914786" y="2894076"/>
            <a:ext cx="3611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Calibri"/>
              <a:buNone/>
            </a:pPr>
            <a:r>
              <a:rPr b="0" i="0" lang="pt-BR" sz="1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Regressão Linear: a melhor e a mais rápida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30"/>
          <p:cNvSpPr txBox="1"/>
          <p:nvPr/>
        </p:nvSpPr>
        <p:spPr>
          <a:xfrm>
            <a:off x="411480" y="3634740"/>
            <a:ext cx="27432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mbria"/>
              <a:buNone/>
            </a:pPr>
            <a:r>
              <a:rPr b="1" i="0" lang="pt-BR" sz="1500" u="none" cap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Limitações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30"/>
          <p:cNvSpPr txBox="1"/>
          <p:nvPr/>
        </p:nvSpPr>
        <p:spPr>
          <a:xfrm>
            <a:off x="411480" y="4011930"/>
            <a:ext cx="83208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Atributos não seguem distribuição normal, o que prejudica o Bayes.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Tempo de execução limitado em 3600 s em 28% das amostras da regressão.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Calibri"/>
              <a:buChar char="•"/>
            </a:pPr>
            <a:r>
              <a:rPr b="0" i="0" lang="pt-BR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k e λ fixos, sem busca de hiperparâmetros.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/>
          <p:nvPr>
            <p:ph type="title"/>
          </p:nvPr>
        </p:nvSpPr>
        <p:spPr>
          <a:xfrm>
            <a:off x="411480" y="274320"/>
            <a:ext cx="8320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Cambria"/>
              <a:buNone/>
            </a:pPr>
            <a:r>
              <a:rPr b="1" lang="pt-BR" sz="23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Referências</a:t>
            </a:r>
            <a:endParaRPr sz="2300"/>
          </a:p>
        </p:txBody>
      </p:sp>
      <p:sp>
        <p:nvSpPr>
          <p:cNvPr id="244" name="Google Shape;244;p31"/>
          <p:cNvSpPr txBox="1"/>
          <p:nvPr/>
        </p:nvSpPr>
        <p:spPr>
          <a:xfrm>
            <a:off x="411480" y="1062990"/>
            <a:ext cx="8320800" cy="34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78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OpenML. steel-plates-fault (id 1504). https://www.openml.org/d/1504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OpenML. CPMP-2015-regression (id 41700). https://www.openml.org/d/41700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Buscema, M. et al. Steel Plates Faults Data Set. UCI Machine Learning Repository, 2010.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Tierney, K.; Malitsky, Y. An Algorithm Selection Benchmark for the Container Pre-Marshalling Problem. LION, 2015.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Duda, R. O.; Hart, P. E.; Stork, D. G. Pattern Classification. 2. ed. Wiley, 2001.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James, G. et al. An Introduction to Statistical Learning. Springer, 2013.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7800" marR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•"/>
            </a:pPr>
            <a:r>
              <a:rPr b="0" i="0" lang="pt-BR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Harris, C. R. et al. Array programming with NumPy. Nature, 585, 2020.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31"/>
          <p:cNvSpPr txBox="1"/>
          <p:nvPr>
            <p:ph idx="4294967295" type="sldNum"/>
          </p:nvPr>
        </p:nvSpPr>
        <p:spPr>
          <a:xfrm>
            <a:off x="8320811" y="4800600"/>
            <a:ext cx="411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800" u="none" cap="none" strike="noStrike">
                <a:solidFill>
                  <a:srgbClr val="66737C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800" u="none" cap="none" strike="noStrike">
              <a:solidFill>
                <a:srgbClr val="66737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V2">
  <a:themeElements>
    <a:clrScheme name="AV2">
      <a:dk1>
        <a:srgbClr val="1B2329"/>
      </a:dk1>
      <a:lt1>
        <a:srgbClr val="FFFFFF"/>
      </a:lt1>
      <a:dk2>
        <a:srgbClr val="3A4A55"/>
      </a:dk2>
      <a:lt2>
        <a:srgbClr val="EEF1F3"/>
      </a:lt2>
      <a:accent1>
        <a:srgbClr val="C8592A"/>
      </a:accent1>
      <a:accent2>
        <a:srgbClr val="2F6688"/>
      </a:accent2>
      <a:accent3>
        <a:srgbClr val="9FB3C0"/>
      </a:accent3>
      <a:accent4>
        <a:srgbClr val="C9A227"/>
      </a:accent4>
      <a:accent5>
        <a:srgbClr val="66737C"/>
      </a:accent5>
      <a:accent6>
        <a:srgbClr val="A23B2A"/>
      </a:accent6>
      <a:hlink>
        <a:srgbClr val="2F6688"/>
      </a:hlink>
      <a:folHlink>
        <a:srgbClr val="66737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